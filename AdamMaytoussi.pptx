
<file path=[Content_Types].xml><?xml version="1.0" encoding="utf-8"?>
<Types xmlns="http://schemas.openxmlformats.org/package/2006/content-types">
  <Default ContentType="image/jp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2000"/>
  <p:notesSz cx="6858000" cy="12192000"/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1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c052bbb374ec8c1f7778a6e4e4a96a04efa0e272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160" r="160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85000"/>
                </a:srgbClr>
              </a:gs>
              <a:gs pos="100000">
                <a:srgbClr val="4A6D8C">
                  <a:alpha val="4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5763" y="2639378"/>
            <a:ext cx="2857500" cy="390525"/>
          </a:xfrm>
          <a:custGeom>
            <a:avLst/>
            <a:gdLst/>
            <a:ahLst/>
            <a:cxnLst/>
            <a:rect l="l" t="t" r="r" b="b"/>
            <a:pathLst>
              <a:path w="2857500" h="390525">
                <a:moveTo>
                  <a:pt x="38100" y="0"/>
                </a:moveTo>
                <a:lnTo>
                  <a:pt x="2819400" y="0"/>
                </a:lnTo>
                <a:cubicBezTo>
                  <a:pt x="2840442" y="0"/>
                  <a:pt x="2857500" y="17058"/>
                  <a:pt x="2857500" y="38100"/>
                </a:cubicBezTo>
                <a:lnTo>
                  <a:pt x="2857500" y="352425"/>
                </a:lnTo>
                <a:cubicBezTo>
                  <a:pt x="2857500" y="373467"/>
                  <a:pt x="2840442" y="390525"/>
                  <a:pt x="2819400" y="390525"/>
                </a:cubicBezTo>
                <a:lnTo>
                  <a:pt x="38100" y="390525"/>
                </a:lnTo>
                <a:cubicBezTo>
                  <a:pt x="17058" y="390525"/>
                  <a:pt x="0" y="373467"/>
                  <a:pt x="0" y="3524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8A97E">
              <a:alpha val="20000"/>
            </a:srgbClr>
          </a:solidFill>
          <a:ln w="12700">
            <a:solidFill>
              <a:srgbClr val="C8A97E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2925" y="2744153"/>
            <a:ext cx="261953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120" kern="0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Final Project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3263265"/>
            <a:ext cx="8877300" cy="150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46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End-to-End Voice-Preserving Video Dubbing System 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4924425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8" name="Text 5"/>
          <p:cNvSpPr/>
          <p:nvPr/>
        </p:nvSpPr>
        <p:spPr>
          <a:xfrm>
            <a:off x="381000" y="5191125"/>
            <a:ext cx="74295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By Adam Maytoussi &amp; Soulaymane Temimi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 Overview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2954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5" name="Shape 3"/>
          <p:cNvSpPr/>
          <p:nvPr/>
        </p:nvSpPr>
        <p:spPr>
          <a:xfrm>
            <a:off x="381000" y="2186143"/>
            <a:ext cx="5467350" cy="1543050"/>
          </a:xfrm>
          <a:custGeom>
            <a:avLst/>
            <a:gdLst/>
            <a:ahLst/>
            <a:cxnLst/>
            <a:rect l="l" t="t" r="r" b="b"/>
            <a:pathLst>
              <a:path w="5467350" h="1543050">
                <a:moveTo>
                  <a:pt x="0" y="0"/>
                </a:moveTo>
                <a:lnTo>
                  <a:pt x="5391154" y="0"/>
                </a:lnTo>
                <a:cubicBezTo>
                  <a:pt x="5433236" y="0"/>
                  <a:pt x="5467350" y="34114"/>
                  <a:pt x="5467350" y="76196"/>
                </a:cubicBezTo>
                <a:lnTo>
                  <a:pt x="5467350" y="1466854"/>
                </a:lnTo>
                <a:cubicBezTo>
                  <a:pt x="5467350" y="1508936"/>
                  <a:pt x="5433236" y="1543050"/>
                  <a:pt x="5391154" y="1543050"/>
                </a:cubicBezTo>
                <a:lnTo>
                  <a:pt x="0" y="1543050"/>
                </a:lnTo>
                <a:lnTo>
                  <a:pt x="0" y="0"/>
                </a:lnTo>
                <a:close/>
              </a:path>
            </a:pathLst>
          </a:custGeom>
          <a:solidFill>
            <a:srgbClr val="4A6D8C">
              <a:alpha val="10196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81000" y="2186143"/>
            <a:ext cx="38100" cy="1543050"/>
          </a:xfrm>
          <a:custGeom>
            <a:avLst/>
            <a:gdLst/>
            <a:ahLst/>
            <a:cxnLst/>
            <a:rect l="l" t="t" r="r" b="b"/>
            <a:pathLst>
              <a:path w="38100" h="1543050">
                <a:moveTo>
                  <a:pt x="0" y="0"/>
                </a:moveTo>
                <a:lnTo>
                  <a:pt x="38100" y="0"/>
                </a:lnTo>
                <a:lnTo>
                  <a:pt x="38100" y="1543050"/>
                </a:lnTo>
                <a:lnTo>
                  <a:pt x="0" y="1543050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7" name="Shape 5"/>
          <p:cNvSpPr/>
          <p:nvPr/>
        </p:nvSpPr>
        <p:spPr>
          <a:xfrm>
            <a:off x="590550" y="2376643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8" name="Text 6"/>
          <p:cNvSpPr/>
          <p:nvPr/>
        </p:nvSpPr>
        <p:spPr>
          <a:xfrm>
            <a:off x="533400" y="2376643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76350" y="2376643"/>
            <a:ext cx="4495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76350" y="2757643"/>
            <a:ext cx="44577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Language barriers in educational content and limitations of existing dubbing solutions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324600" y="2186143"/>
            <a:ext cx="5467350" cy="1543050"/>
          </a:xfrm>
          <a:custGeom>
            <a:avLst/>
            <a:gdLst/>
            <a:ahLst/>
            <a:cxnLst/>
            <a:rect l="l" t="t" r="r" b="b"/>
            <a:pathLst>
              <a:path w="5467350" h="1543050">
                <a:moveTo>
                  <a:pt x="0" y="0"/>
                </a:moveTo>
                <a:lnTo>
                  <a:pt x="5391154" y="0"/>
                </a:lnTo>
                <a:cubicBezTo>
                  <a:pt x="5433236" y="0"/>
                  <a:pt x="5467350" y="34114"/>
                  <a:pt x="5467350" y="76196"/>
                </a:cubicBezTo>
                <a:lnTo>
                  <a:pt x="5467350" y="1466854"/>
                </a:lnTo>
                <a:cubicBezTo>
                  <a:pt x="5467350" y="1508936"/>
                  <a:pt x="5433236" y="1543050"/>
                  <a:pt x="5391154" y="1543050"/>
                </a:cubicBezTo>
                <a:lnTo>
                  <a:pt x="0" y="1543050"/>
                </a:lnTo>
                <a:lnTo>
                  <a:pt x="0" y="0"/>
                </a:lnTo>
                <a:close/>
              </a:path>
            </a:pathLst>
          </a:custGeom>
          <a:solidFill>
            <a:srgbClr val="4A6D8C">
              <a:alpha val="10196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324600" y="2186143"/>
            <a:ext cx="38100" cy="1543050"/>
          </a:xfrm>
          <a:custGeom>
            <a:avLst/>
            <a:gdLst/>
            <a:ahLst/>
            <a:cxnLst/>
            <a:rect l="l" t="t" r="r" b="b"/>
            <a:pathLst>
              <a:path w="38100" h="1543050">
                <a:moveTo>
                  <a:pt x="0" y="0"/>
                </a:moveTo>
                <a:lnTo>
                  <a:pt x="38100" y="0"/>
                </a:lnTo>
                <a:lnTo>
                  <a:pt x="38100" y="1543050"/>
                </a:lnTo>
                <a:lnTo>
                  <a:pt x="0" y="1543050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13" name="Shape 11"/>
          <p:cNvSpPr/>
          <p:nvPr/>
        </p:nvSpPr>
        <p:spPr>
          <a:xfrm>
            <a:off x="6534150" y="2376643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14" name="Text 12"/>
          <p:cNvSpPr/>
          <p:nvPr/>
        </p:nvSpPr>
        <p:spPr>
          <a:xfrm>
            <a:off x="6477000" y="2376643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219950" y="2376643"/>
            <a:ext cx="4495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Pipeline Architecture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219950" y="2757643"/>
            <a:ext cx="44577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 8-step processing pipeline from video input to dubbed output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81000" y="3957793"/>
            <a:ext cx="5467350" cy="1543050"/>
          </a:xfrm>
          <a:custGeom>
            <a:avLst/>
            <a:gdLst/>
            <a:ahLst/>
            <a:cxnLst/>
            <a:rect l="l" t="t" r="r" b="b"/>
            <a:pathLst>
              <a:path w="5467350" h="1543050">
                <a:moveTo>
                  <a:pt x="0" y="0"/>
                </a:moveTo>
                <a:lnTo>
                  <a:pt x="5391154" y="0"/>
                </a:lnTo>
                <a:cubicBezTo>
                  <a:pt x="5433236" y="0"/>
                  <a:pt x="5467350" y="34114"/>
                  <a:pt x="5467350" y="76196"/>
                </a:cubicBezTo>
                <a:lnTo>
                  <a:pt x="5467350" y="1466854"/>
                </a:lnTo>
                <a:cubicBezTo>
                  <a:pt x="5467350" y="1508936"/>
                  <a:pt x="5433236" y="1543050"/>
                  <a:pt x="5391154" y="1543050"/>
                </a:cubicBezTo>
                <a:lnTo>
                  <a:pt x="0" y="1543050"/>
                </a:lnTo>
                <a:lnTo>
                  <a:pt x="0" y="0"/>
                </a:lnTo>
                <a:close/>
              </a:path>
            </a:pathLst>
          </a:custGeom>
          <a:solidFill>
            <a:srgbClr val="4A6D8C">
              <a:alpha val="10196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81000" y="3957793"/>
            <a:ext cx="38100" cy="1543050"/>
          </a:xfrm>
          <a:custGeom>
            <a:avLst/>
            <a:gdLst/>
            <a:ahLst/>
            <a:cxnLst/>
            <a:rect l="l" t="t" r="r" b="b"/>
            <a:pathLst>
              <a:path w="38100" h="1543050">
                <a:moveTo>
                  <a:pt x="0" y="0"/>
                </a:moveTo>
                <a:lnTo>
                  <a:pt x="38100" y="0"/>
                </a:lnTo>
                <a:lnTo>
                  <a:pt x="38100" y="1543050"/>
                </a:lnTo>
                <a:lnTo>
                  <a:pt x="0" y="1543050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19" name="Shape 17"/>
          <p:cNvSpPr/>
          <p:nvPr/>
        </p:nvSpPr>
        <p:spPr>
          <a:xfrm>
            <a:off x="590550" y="4148293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20" name="Text 18"/>
          <p:cNvSpPr/>
          <p:nvPr/>
        </p:nvSpPr>
        <p:spPr>
          <a:xfrm>
            <a:off x="533400" y="4148293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76350" y="4148293"/>
            <a:ext cx="4495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Technical Components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76350" y="4529293"/>
            <a:ext cx="44577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Transcription, diarization, translation, TTS synthesis, and audio alignment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324600" y="3957793"/>
            <a:ext cx="5467350" cy="1543050"/>
          </a:xfrm>
          <a:custGeom>
            <a:avLst/>
            <a:gdLst/>
            <a:ahLst/>
            <a:cxnLst/>
            <a:rect l="l" t="t" r="r" b="b"/>
            <a:pathLst>
              <a:path w="5467350" h="1543050">
                <a:moveTo>
                  <a:pt x="0" y="0"/>
                </a:moveTo>
                <a:lnTo>
                  <a:pt x="5391154" y="0"/>
                </a:lnTo>
                <a:cubicBezTo>
                  <a:pt x="5433236" y="0"/>
                  <a:pt x="5467350" y="34114"/>
                  <a:pt x="5467350" y="76196"/>
                </a:cubicBezTo>
                <a:lnTo>
                  <a:pt x="5467350" y="1466854"/>
                </a:lnTo>
                <a:cubicBezTo>
                  <a:pt x="5467350" y="1508936"/>
                  <a:pt x="5433236" y="1543050"/>
                  <a:pt x="5391154" y="1543050"/>
                </a:cubicBezTo>
                <a:lnTo>
                  <a:pt x="0" y="1543050"/>
                </a:lnTo>
                <a:lnTo>
                  <a:pt x="0" y="0"/>
                </a:lnTo>
                <a:close/>
              </a:path>
            </a:pathLst>
          </a:custGeom>
          <a:solidFill>
            <a:srgbClr val="4A6D8C">
              <a:alpha val="10196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6324600" y="3957793"/>
            <a:ext cx="38100" cy="1543050"/>
          </a:xfrm>
          <a:custGeom>
            <a:avLst/>
            <a:gdLst/>
            <a:ahLst/>
            <a:cxnLst/>
            <a:rect l="l" t="t" r="r" b="b"/>
            <a:pathLst>
              <a:path w="38100" h="1543050">
                <a:moveTo>
                  <a:pt x="0" y="0"/>
                </a:moveTo>
                <a:lnTo>
                  <a:pt x="38100" y="0"/>
                </a:lnTo>
                <a:lnTo>
                  <a:pt x="38100" y="1543050"/>
                </a:lnTo>
                <a:lnTo>
                  <a:pt x="0" y="1543050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25" name="Shape 23"/>
          <p:cNvSpPr/>
          <p:nvPr/>
        </p:nvSpPr>
        <p:spPr>
          <a:xfrm>
            <a:off x="6534150" y="4148293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26" name="Text 24"/>
          <p:cNvSpPr/>
          <p:nvPr/>
        </p:nvSpPr>
        <p:spPr>
          <a:xfrm>
            <a:off x="6477000" y="4148293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219950" y="4148293"/>
            <a:ext cx="4495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Results &amp; Impact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219950" y="4529293"/>
            <a:ext cx="44577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 metrics, cost analysis, technical stack, and future directions for voice-preserving dubbing technology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Challenge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2573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5" name="Shape 3"/>
          <p:cNvSpPr/>
          <p:nvPr/>
        </p:nvSpPr>
        <p:spPr>
          <a:xfrm>
            <a:off x="381000" y="2347913"/>
            <a:ext cx="5543550" cy="1466850"/>
          </a:xfrm>
          <a:custGeom>
            <a:avLst/>
            <a:gdLst/>
            <a:ahLst/>
            <a:cxnLst/>
            <a:rect l="l" t="t" r="r" b="b"/>
            <a:pathLst>
              <a:path w="5543550" h="1466850">
                <a:moveTo>
                  <a:pt x="0" y="0"/>
                </a:moveTo>
                <a:lnTo>
                  <a:pt x="5467347" y="0"/>
                </a:lnTo>
                <a:cubicBezTo>
                  <a:pt x="5509405" y="0"/>
                  <a:pt x="5543550" y="34145"/>
                  <a:pt x="5543550" y="76203"/>
                </a:cubicBezTo>
                <a:lnTo>
                  <a:pt x="5543550" y="1390647"/>
                </a:lnTo>
                <a:cubicBezTo>
                  <a:pt x="5543550" y="1432705"/>
                  <a:pt x="5509405" y="1466850"/>
                  <a:pt x="5467347" y="1466850"/>
                </a:cubicBezTo>
                <a:lnTo>
                  <a:pt x="0" y="1466850"/>
                </a:lnTo>
                <a:lnTo>
                  <a:pt x="0" y="0"/>
                </a:lnTo>
                <a:close/>
              </a:path>
            </a:pathLst>
          </a:custGeom>
          <a:solidFill>
            <a:srgbClr val="4A6D8C">
              <a:alpha val="10196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81000" y="2347913"/>
            <a:ext cx="38100" cy="1466850"/>
          </a:xfrm>
          <a:custGeom>
            <a:avLst/>
            <a:gdLst/>
            <a:ahLst/>
            <a:cxnLst/>
            <a:rect l="l" t="t" r="r" b="b"/>
            <a:pathLst>
              <a:path w="38100" h="1466850">
                <a:moveTo>
                  <a:pt x="0" y="0"/>
                </a:moveTo>
                <a:lnTo>
                  <a:pt x="38100" y="0"/>
                </a:lnTo>
                <a:lnTo>
                  <a:pt x="38100" y="1466850"/>
                </a:lnTo>
                <a:lnTo>
                  <a:pt x="0" y="1466850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7" name="Shape 5"/>
          <p:cNvSpPr/>
          <p:nvPr/>
        </p:nvSpPr>
        <p:spPr>
          <a:xfrm>
            <a:off x="542925" y="257651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57118" y="125016"/>
                </a:moveTo>
                <a:lnTo>
                  <a:pt x="71884" y="125016"/>
                </a:lnTo>
                <a:cubicBezTo>
                  <a:pt x="73179" y="153814"/>
                  <a:pt x="79564" y="180335"/>
                  <a:pt x="88627" y="199757"/>
                </a:cubicBezTo>
                <a:cubicBezTo>
                  <a:pt x="93717" y="210696"/>
                  <a:pt x="99209" y="218420"/>
                  <a:pt x="104299" y="223153"/>
                </a:cubicBezTo>
                <a:cubicBezTo>
                  <a:pt x="109299" y="227841"/>
                  <a:pt x="112737" y="228600"/>
                  <a:pt x="114523" y="228600"/>
                </a:cubicBezTo>
                <a:cubicBezTo>
                  <a:pt x="116309" y="228600"/>
                  <a:pt x="119747" y="227841"/>
                  <a:pt x="124748" y="223153"/>
                </a:cubicBezTo>
                <a:cubicBezTo>
                  <a:pt x="129838" y="218420"/>
                  <a:pt x="135329" y="210651"/>
                  <a:pt x="140419" y="199757"/>
                </a:cubicBezTo>
                <a:cubicBezTo>
                  <a:pt x="149483" y="180335"/>
                  <a:pt x="155868" y="153814"/>
                  <a:pt x="157162" y="125016"/>
                </a:cubicBezTo>
                <a:close/>
                <a:moveTo>
                  <a:pt x="71839" y="103584"/>
                </a:moveTo>
                <a:lnTo>
                  <a:pt x="157073" y="103584"/>
                </a:lnTo>
                <a:cubicBezTo>
                  <a:pt x="155823" y="74786"/>
                  <a:pt x="149438" y="48265"/>
                  <a:pt x="140375" y="28843"/>
                </a:cubicBezTo>
                <a:cubicBezTo>
                  <a:pt x="135285" y="17949"/>
                  <a:pt x="129793" y="10180"/>
                  <a:pt x="124703" y="5447"/>
                </a:cubicBezTo>
                <a:cubicBezTo>
                  <a:pt x="119702" y="759"/>
                  <a:pt x="116265" y="0"/>
                  <a:pt x="114479" y="0"/>
                </a:cubicBezTo>
                <a:cubicBezTo>
                  <a:pt x="112693" y="0"/>
                  <a:pt x="109255" y="759"/>
                  <a:pt x="104254" y="5447"/>
                </a:cubicBezTo>
                <a:cubicBezTo>
                  <a:pt x="99164" y="10180"/>
                  <a:pt x="93672" y="17949"/>
                  <a:pt x="88582" y="28843"/>
                </a:cubicBezTo>
                <a:cubicBezTo>
                  <a:pt x="79519" y="48265"/>
                  <a:pt x="73134" y="74786"/>
                  <a:pt x="71839" y="103584"/>
                </a:cubicBezTo>
                <a:close/>
                <a:moveTo>
                  <a:pt x="50408" y="103584"/>
                </a:moveTo>
                <a:cubicBezTo>
                  <a:pt x="51971" y="65365"/>
                  <a:pt x="61838" y="29870"/>
                  <a:pt x="76260" y="6563"/>
                </a:cubicBezTo>
                <a:cubicBezTo>
                  <a:pt x="35138" y="21119"/>
                  <a:pt x="4867" y="58579"/>
                  <a:pt x="670" y="103584"/>
                </a:cubicBezTo>
                <a:lnTo>
                  <a:pt x="50408" y="103584"/>
                </a:lnTo>
                <a:close/>
                <a:moveTo>
                  <a:pt x="670" y="125016"/>
                </a:moveTo>
                <a:cubicBezTo>
                  <a:pt x="4867" y="170021"/>
                  <a:pt x="35138" y="207481"/>
                  <a:pt x="76260" y="222037"/>
                </a:cubicBezTo>
                <a:cubicBezTo>
                  <a:pt x="61838" y="198730"/>
                  <a:pt x="51971" y="163235"/>
                  <a:pt x="50408" y="125016"/>
                </a:cubicBezTo>
                <a:lnTo>
                  <a:pt x="670" y="125016"/>
                </a:lnTo>
                <a:close/>
                <a:moveTo>
                  <a:pt x="178549" y="125016"/>
                </a:moveTo>
                <a:cubicBezTo>
                  <a:pt x="176986" y="163235"/>
                  <a:pt x="167119" y="198730"/>
                  <a:pt x="152698" y="222037"/>
                </a:cubicBezTo>
                <a:cubicBezTo>
                  <a:pt x="193819" y="207437"/>
                  <a:pt x="224091" y="170021"/>
                  <a:pt x="228287" y="125016"/>
                </a:cubicBezTo>
                <a:lnTo>
                  <a:pt x="178549" y="125016"/>
                </a:lnTo>
                <a:close/>
                <a:moveTo>
                  <a:pt x="228287" y="103584"/>
                </a:moveTo>
                <a:cubicBezTo>
                  <a:pt x="224091" y="58579"/>
                  <a:pt x="193819" y="21119"/>
                  <a:pt x="152698" y="6563"/>
                </a:cubicBezTo>
                <a:cubicBezTo>
                  <a:pt x="167119" y="29870"/>
                  <a:pt x="176986" y="65365"/>
                  <a:pt x="178549" y="103584"/>
                </a:cubicBezTo>
                <a:lnTo>
                  <a:pt x="228287" y="103584"/>
                </a:ln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8" name="Text 6"/>
          <p:cNvSpPr/>
          <p:nvPr/>
        </p:nvSpPr>
        <p:spPr>
          <a:xfrm>
            <a:off x="838200" y="2538413"/>
            <a:ext cx="4991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Language Barrier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38200" y="2881313"/>
            <a:ext cx="49720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Foreign-language instructional videos (e.g., Chinese GitHub tutorials) remain inaccessible to English-speaking learners, creating knowledge gaps in technical education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1000" y="4043363"/>
            <a:ext cx="5543550" cy="1219200"/>
          </a:xfrm>
          <a:custGeom>
            <a:avLst/>
            <a:gdLst/>
            <a:ahLst/>
            <a:cxnLst/>
            <a:rect l="l" t="t" r="r" b="b"/>
            <a:pathLst>
              <a:path w="5543550" h="1219200">
                <a:moveTo>
                  <a:pt x="0" y="0"/>
                </a:moveTo>
                <a:lnTo>
                  <a:pt x="5467350" y="0"/>
                </a:lnTo>
                <a:cubicBezTo>
                  <a:pt x="5509406" y="0"/>
                  <a:pt x="5543550" y="34144"/>
                  <a:pt x="5543550" y="76200"/>
                </a:cubicBezTo>
                <a:lnTo>
                  <a:pt x="5543550" y="1143000"/>
                </a:lnTo>
                <a:cubicBezTo>
                  <a:pt x="5543550" y="1185056"/>
                  <a:pt x="5509406" y="1219200"/>
                  <a:pt x="5467350" y="1219200"/>
                </a:cubicBez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4A6D8C">
              <a:alpha val="10196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381000" y="4043363"/>
            <a:ext cx="38100" cy="1219200"/>
          </a:xfrm>
          <a:custGeom>
            <a:avLst/>
            <a:gdLst/>
            <a:ahLst/>
            <a:cxnLst/>
            <a:rect l="l" t="t" r="r" b="b"/>
            <a:pathLst>
              <a:path w="38100" h="1219200">
                <a:moveTo>
                  <a:pt x="0" y="0"/>
                </a:moveTo>
                <a:lnTo>
                  <a:pt x="38100" y="0"/>
                </a:lnTo>
                <a:lnTo>
                  <a:pt x="38100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12" name="Shape 10"/>
          <p:cNvSpPr/>
          <p:nvPr/>
        </p:nvSpPr>
        <p:spPr>
          <a:xfrm>
            <a:off x="595313" y="4271963"/>
            <a:ext cx="142875" cy="228600"/>
          </a:xfrm>
          <a:custGeom>
            <a:avLst/>
            <a:gdLst/>
            <a:ahLst/>
            <a:cxnLst/>
            <a:rect l="l" t="t" r="r" b="b"/>
            <a:pathLst>
              <a:path w="142875" h="228600">
                <a:moveTo>
                  <a:pt x="60722" y="10716"/>
                </a:moveTo>
                <a:cubicBezTo>
                  <a:pt x="60722" y="4777"/>
                  <a:pt x="65499" y="0"/>
                  <a:pt x="71438" y="0"/>
                </a:cubicBezTo>
                <a:cubicBezTo>
                  <a:pt x="77376" y="0"/>
                  <a:pt x="82153" y="4777"/>
                  <a:pt x="82153" y="10716"/>
                </a:cubicBezTo>
                <a:lnTo>
                  <a:pt x="82153" y="28575"/>
                </a:lnTo>
                <a:lnTo>
                  <a:pt x="107156" y="28575"/>
                </a:lnTo>
                <a:cubicBezTo>
                  <a:pt x="115059" y="28575"/>
                  <a:pt x="121444" y="34960"/>
                  <a:pt x="121444" y="42863"/>
                </a:cubicBezTo>
                <a:cubicBezTo>
                  <a:pt x="121444" y="50765"/>
                  <a:pt x="115059" y="57150"/>
                  <a:pt x="107156" y="57150"/>
                </a:cubicBezTo>
                <a:lnTo>
                  <a:pt x="55855" y="57150"/>
                </a:lnTo>
                <a:cubicBezTo>
                  <a:pt x="44738" y="57150"/>
                  <a:pt x="35719" y="66169"/>
                  <a:pt x="35719" y="77286"/>
                </a:cubicBezTo>
                <a:cubicBezTo>
                  <a:pt x="35719" y="87332"/>
                  <a:pt x="43086" y="95816"/>
                  <a:pt x="52998" y="97244"/>
                </a:cubicBezTo>
                <a:lnTo>
                  <a:pt x="93896" y="103093"/>
                </a:lnTo>
                <a:cubicBezTo>
                  <a:pt x="117917" y="106531"/>
                  <a:pt x="135731" y="127069"/>
                  <a:pt x="135731" y="151314"/>
                </a:cubicBezTo>
                <a:cubicBezTo>
                  <a:pt x="135731" y="178237"/>
                  <a:pt x="113898" y="200025"/>
                  <a:pt x="87020" y="200025"/>
                </a:cubicBezTo>
                <a:lnTo>
                  <a:pt x="82153" y="200025"/>
                </a:lnTo>
                <a:lnTo>
                  <a:pt x="82153" y="217884"/>
                </a:lnTo>
                <a:cubicBezTo>
                  <a:pt x="82153" y="223823"/>
                  <a:pt x="77376" y="228600"/>
                  <a:pt x="71438" y="228600"/>
                </a:cubicBezTo>
                <a:cubicBezTo>
                  <a:pt x="65499" y="228600"/>
                  <a:pt x="60722" y="223823"/>
                  <a:pt x="60722" y="217884"/>
                </a:cubicBezTo>
                <a:lnTo>
                  <a:pt x="60722" y="200025"/>
                </a:lnTo>
                <a:lnTo>
                  <a:pt x="28575" y="200025"/>
                </a:lnTo>
                <a:cubicBezTo>
                  <a:pt x="20672" y="200025"/>
                  <a:pt x="14288" y="193640"/>
                  <a:pt x="14288" y="185738"/>
                </a:cubicBezTo>
                <a:cubicBezTo>
                  <a:pt x="14288" y="177835"/>
                  <a:pt x="20672" y="171450"/>
                  <a:pt x="28575" y="171450"/>
                </a:cubicBezTo>
                <a:lnTo>
                  <a:pt x="87020" y="171450"/>
                </a:lnTo>
                <a:cubicBezTo>
                  <a:pt x="98137" y="171450"/>
                  <a:pt x="107156" y="162431"/>
                  <a:pt x="107156" y="151314"/>
                </a:cubicBezTo>
                <a:cubicBezTo>
                  <a:pt x="107156" y="141268"/>
                  <a:pt x="99789" y="132784"/>
                  <a:pt x="89877" y="131356"/>
                </a:cubicBezTo>
                <a:lnTo>
                  <a:pt x="48979" y="125507"/>
                </a:lnTo>
                <a:cubicBezTo>
                  <a:pt x="24958" y="122113"/>
                  <a:pt x="7144" y="101531"/>
                  <a:pt x="7144" y="77286"/>
                </a:cubicBezTo>
                <a:cubicBezTo>
                  <a:pt x="7144" y="50408"/>
                  <a:pt x="28977" y="28575"/>
                  <a:pt x="55855" y="28575"/>
                </a:cubicBezTo>
                <a:lnTo>
                  <a:pt x="60722" y="28575"/>
                </a:lnTo>
                <a:lnTo>
                  <a:pt x="60722" y="10716"/>
                </a:ln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13" name="Text 11"/>
          <p:cNvSpPr/>
          <p:nvPr/>
        </p:nvSpPr>
        <p:spPr>
          <a:xfrm>
            <a:off x="855821" y="4233863"/>
            <a:ext cx="4972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Cost &amp; Time Constraints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55821" y="4576763"/>
            <a:ext cx="4953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Manual dubbing is prohibitively expensive and slow (days to weeks), making it impractical for educational content creators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96050" y="3919537"/>
            <a:ext cx="5067300" cy="9525"/>
          </a:xfrm>
          <a:custGeom>
            <a:avLst/>
            <a:gdLst/>
            <a:ahLst/>
            <a:cxnLst/>
            <a:rect l="l" t="t" r="r" b="b"/>
            <a:pathLst>
              <a:path w="5067300" h="9525">
                <a:moveTo>
                  <a:pt x="0" y="0"/>
                </a:moveTo>
                <a:lnTo>
                  <a:pt x="5067300" y="0"/>
                </a:lnTo>
                <a:lnTo>
                  <a:pt x="50673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C8A97E">
              <a:alpha val="30196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496050" y="4462463"/>
            <a:ext cx="5067300" cy="800100"/>
          </a:xfrm>
          <a:custGeom>
            <a:avLst/>
            <a:gdLst/>
            <a:ahLst/>
            <a:cxnLst/>
            <a:rect l="l" t="t" r="r" b="b"/>
            <a:pathLst>
              <a:path w="5067300" h="800100">
                <a:moveTo>
                  <a:pt x="76202" y="0"/>
                </a:moveTo>
                <a:lnTo>
                  <a:pt x="4991098" y="0"/>
                </a:lnTo>
                <a:cubicBezTo>
                  <a:pt x="5033183" y="0"/>
                  <a:pt x="5067300" y="34117"/>
                  <a:pt x="5067300" y="76202"/>
                </a:cubicBezTo>
                <a:lnTo>
                  <a:pt x="5067300" y="723898"/>
                </a:lnTo>
                <a:cubicBezTo>
                  <a:pt x="5067300" y="765983"/>
                  <a:pt x="5033183" y="800100"/>
                  <a:pt x="4991098" y="800100"/>
                </a:cubicBezTo>
                <a:lnTo>
                  <a:pt x="76202" y="800100"/>
                </a:lnTo>
                <a:cubicBezTo>
                  <a:pt x="34117" y="800100"/>
                  <a:pt x="0" y="765983"/>
                  <a:pt x="0" y="7238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610350" y="3814763"/>
            <a:ext cx="4838700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 an end-to-end system that produces fully dubbed English videos while preserving the original speaker's voice identity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01556" y="2740343"/>
            <a:ext cx="4233333" cy="10744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7200" dirty="0">
                <a:solidFill>
                  <a:srgbClr val="C8A9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GOAL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Design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Full Pipeline Architecture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5" name="Shape 3"/>
          <p:cNvSpPr/>
          <p:nvPr/>
        </p:nvSpPr>
        <p:spPr>
          <a:xfrm>
            <a:off x="381000" y="2124770"/>
            <a:ext cx="2762250" cy="1152525"/>
          </a:xfrm>
          <a:custGeom>
            <a:avLst/>
            <a:gdLst/>
            <a:ahLst/>
            <a:cxnLst/>
            <a:rect l="l" t="t" r="r" b="b"/>
            <a:pathLst>
              <a:path w="2762250" h="1152525">
                <a:moveTo>
                  <a:pt x="76205" y="0"/>
                </a:moveTo>
                <a:lnTo>
                  <a:pt x="2686045" y="0"/>
                </a:lnTo>
                <a:cubicBezTo>
                  <a:pt x="2728132" y="0"/>
                  <a:pt x="2762250" y="34118"/>
                  <a:pt x="2762250" y="76205"/>
                </a:cubicBezTo>
                <a:lnTo>
                  <a:pt x="2762250" y="1076320"/>
                </a:lnTo>
                <a:cubicBezTo>
                  <a:pt x="2762250" y="1118407"/>
                  <a:pt x="2728132" y="1152525"/>
                  <a:pt x="2686045" y="1152525"/>
                </a:cubicBezTo>
                <a:lnTo>
                  <a:pt x="76205" y="1152525"/>
                </a:lnTo>
                <a:cubicBezTo>
                  <a:pt x="34118" y="1152525"/>
                  <a:pt x="0" y="1118407"/>
                  <a:pt x="0" y="1076320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 w="12700">
            <a:solidFill>
              <a:srgbClr val="4A6D8C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71625" y="224383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7" name="Text 5"/>
          <p:cNvSpPr/>
          <p:nvPr/>
        </p:nvSpPr>
        <p:spPr>
          <a:xfrm>
            <a:off x="1528763" y="2243833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61963" y="2701033"/>
            <a:ext cx="2600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Audio Extraction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6725" y="2967733"/>
            <a:ext cx="2590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FFmpeg (CPU)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267075" y="2124770"/>
            <a:ext cx="2762250" cy="1152525"/>
          </a:xfrm>
          <a:custGeom>
            <a:avLst/>
            <a:gdLst/>
            <a:ahLst/>
            <a:cxnLst/>
            <a:rect l="l" t="t" r="r" b="b"/>
            <a:pathLst>
              <a:path w="2762250" h="1152525">
                <a:moveTo>
                  <a:pt x="76205" y="0"/>
                </a:moveTo>
                <a:lnTo>
                  <a:pt x="2686045" y="0"/>
                </a:lnTo>
                <a:cubicBezTo>
                  <a:pt x="2728132" y="0"/>
                  <a:pt x="2762250" y="34118"/>
                  <a:pt x="2762250" y="76205"/>
                </a:cubicBezTo>
                <a:lnTo>
                  <a:pt x="2762250" y="1076320"/>
                </a:lnTo>
                <a:cubicBezTo>
                  <a:pt x="2762250" y="1118407"/>
                  <a:pt x="2728132" y="1152525"/>
                  <a:pt x="2686045" y="1152525"/>
                </a:cubicBezTo>
                <a:lnTo>
                  <a:pt x="76205" y="1152525"/>
                </a:lnTo>
                <a:cubicBezTo>
                  <a:pt x="34118" y="1152525"/>
                  <a:pt x="0" y="1118407"/>
                  <a:pt x="0" y="1076320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 w="12700">
            <a:solidFill>
              <a:srgbClr val="4A6D8C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57700" y="224383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12" name="Text 10"/>
          <p:cNvSpPr/>
          <p:nvPr/>
        </p:nvSpPr>
        <p:spPr>
          <a:xfrm>
            <a:off x="4414838" y="2243833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348038" y="2701033"/>
            <a:ext cx="2600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Transcription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52800" y="2967733"/>
            <a:ext cx="2590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Whisper large-v3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153150" y="2124770"/>
            <a:ext cx="2762250" cy="1152525"/>
          </a:xfrm>
          <a:custGeom>
            <a:avLst/>
            <a:gdLst/>
            <a:ahLst/>
            <a:cxnLst/>
            <a:rect l="l" t="t" r="r" b="b"/>
            <a:pathLst>
              <a:path w="2762250" h="1152525">
                <a:moveTo>
                  <a:pt x="76205" y="0"/>
                </a:moveTo>
                <a:lnTo>
                  <a:pt x="2686045" y="0"/>
                </a:lnTo>
                <a:cubicBezTo>
                  <a:pt x="2728132" y="0"/>
                  <a:pt x="2762250" y="34118"/>
                  <a:pt x="2762250" y="76205"/>
                </a:cubicBezTo>
                <a:lnTo>
                  <a:pt x="2762250" y="1076320"/>
                </a:lnTo>
                <a:cubicBezTo>
                  <a:pt x="2762250" y="1118407"/>
                  <a:pt x="2728132" y="1152525"/>
                  <a:pt x="2686045" y="1152525"/>
                </a:cubicBezTo>
                <a:lnTo>
                  <a:pt x="76205" y="1152525"/>
                </a:lnTo>
                <a:cubicBezTo>
                  <a:pt x="34118" y="1152525"/>
                  <a:pt x="0" y="1118407"/>
                  <a:pt x="0" y="1076320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 w="12700">
            <a:solidFill>
              <a:srgbClr val="4A6D8C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43775" y="224383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17" name="Text 15"/>
          <p:cNvSpPr/>
          <p:nvPr/>
        </p:nvSpPr>
        <p:spPr>
          <a:xfrm>
            <a:off x="7300913" y="2243833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34113" y="2701033"/>
            <a:ext cx="2600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Speaker Diarization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238875" y="2967733"/>
            <a:ext cx="2590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pyannote-audio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039225" y="2124770"/>
            <a:ext cx="2762250" cy="1152525"/>
          </a:xfrm>
          <a:custGeom>
            <a:avLst/>
            <a:gdLst/>
            <a:ahLst/>
            <a:cxnLst/>
            <a:rect l="l" t="t" r="r" b="b"/>
            <a:pathLst>
              <a:path w="2762250" h="1152525">
                <a:moveTo>
                  <a:pt x="76205" y="0"/>
                </a:moveTo>
                <a:lnTo>
                  <a:pt x="2686045" y="0"/>
                </a:lnTo>
                <a:cubicBezTo>
                  <a:pt x="2728132" y="0"/>
                  <a:pt x="2762250" y="34118"/>
                  <a:pt x="2762250" y="76205"/>
                </a:cubicBezTo>
                <a:lnTo>
                  <a:pt x="2762250" y="1076320"/>
                </a:lnTo>
                <a:cubicBezTo>
                  <a:pt x="2762250" y="1118407"/>
                  <a:pt x="2728132" y="1152525"/>
                  <a:pt x="2686045" y="1152525"/>
                </a:cubicBezTo>
                <a:lnTo>
                  <a:pt x="76205" y="1152525"/>
                </a:lnTo>
                <a:cubicBezTo>
                  <a:pt x="34118" y="1152525"/>
                  <a:pt x="0" y="1118407"/>
                  <a:pt x="0" y="1076320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 w="12700">
            <a:solidFill>
              <a:srgbClr val="4A6D8C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229850" y="224383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22" name="Text 20"/>
          <p:cNvSpPr/>
          <p:nvPr/>
        </p:nvSpPr>
        <p:spPr>
          <a:xfrm>
            <a:off x="10186988" y="2243833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120188" y="2701033"/>
            <a:ext cx="2600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Translation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124950" y="2967733"/>
            <a:ext cx="2590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DeepL + Gemini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005513" y="3510658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75634" y="224403"/>
                </a:moveTo>
                <a:cubicBezTo>
                  <a:pt x="81216" y="229984"/>
                  <a:pt x="90279" y="229984"/>
                  <a:pt x="95860" y="224403"/>
                </a:cubicBezTo>
                <a:lnTo>
                  <a:pt x="167298" y="152966"/>
                </a:lnTo>
                <a:cubicBezTo>
                  <a:pt x="172879" y="147384"/>
                  <a:pt x="172879" y="138321"/>
                  <a:pt x="167298" y="132740"/>
                </a:cubicBezTo>
                <a:cubicBezTo>
                  <a:pt x="161717" y="127159"/>
                  <a:pt x="152653" y="127159"/>
                  <a:pt x="147072" y="132740"/>
                </a:cubicBezTo>
                <a:lnTo>
                  <a:pt x="100013" y="179799"/>
                </a:lnTo>
                <a:lnTo>
                  <a:pt x="100013" y="14288"/>
                </a:lnTo>
                <a:cubicBezTo>
                  <a:pt x="100013" y="6385"/>
                  <a:pt x="93628" y="0"/>
                  <a:pt x="85725" y="0"/>
                </a:cubicBezTo>
                <a:cubicBezTo>
                  <a:pt x="77822" y="0"/>
                  <a:pt x="71438" y="6385"/>
                  <a:pt x="71438" y="14288"/>
                </a:cubicBezTo>
                <a:lnTo>
                  <a:pt x="71438" y="179799"/>
                </a:lnTo>
                <a:lnTo>
                  <a:pt x="24378" y="132740"/>
                </a:lnTo>
                <a:cubicBezTo>
                  <a:pt x="18797" y="127159"/>
                  <a:pt x="9733" y="127159"/>
                  <a:pt x="4152" y="132740"/>
                </a:cubicBezTo>
                <a:cubicBezTo>
                  <a:pt x="-1429" y="138321"/>
                  <a:pt x="-1429" y="147384"/>
                  <a:pt x="4152" y="152966"/>
                </a:cubicBezTo>
                <a:lnTo>
                  <a:pt x="75590" y="224403"/>
                </a:ln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26" name="Shape 24"/>
          <p:cNvSpPr/>
          <p:nvPr/>
        </p:nvSpPr>
        <p:spPr>
          <a:xfrm>
            <a:off x="381000" y="3820220"/>
            <a:ext cx="2762250" cy="1152525"/>
          </a:xfrm>
          <a:custGeom>
            <a:avLst/>
            <a:gdLst/>
            <a:ahLst/>
            <a:cxnLst/>
            <a:rect l="l" t="t" r="r" b="b"/>
            <a:pathLst>
              <a:path w="2762250" h="1152525">
                <a:moveTo>
                  <a:pt x="76205" y="0"/>
                </a:moveTo>
                <a:lnTo>
                  <a:pt x="2686045" y="0"/>
                </a:lnTo>
                <a:cubicBezTo>
                  <a:pt x="2728132" y="0"/>
                  <a:pt x="2762250" y="34118"/>
                  <a:pt x="2762250" y="76205"/>
                </a:cubicBezTo>
                <a:lnTo>
                  <a:pt x="2762250" y="1076320"/>
                </a:lnTo>
                <a:cubicBezTo>
                  <a:pt x="2762250" y="1118407"/>
                  <a:pt x="2728132" y="1152525"/>
                  <a:pt x="2686045" y="1152525"/>
                </a:cubicBezTo>
                <a:lnTo>
                  <a:pt x="76205" y="1152525"/>
                </a:lnTo>
                <a:cubicBezTo>
                  <a:pt x="34118" y="1152525"/>
                  <a:pt x="0" y="1118407"/>
                  <a:pt x="0" y="1076320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 w="12700">
            <a:solidFill>
              <a:srgbClr val="4A6D8C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571625" y="393928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28" name="Text 26"/>
          <p:cNvSpPr/>
          <p:nvPr/>
        </p:nvSpPr>
        <p:spPr>
          <a:xfrm>
            <a:off x="1528763" y="3939283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61963" y="4396483"/>
            <a:ext cx="2600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TTS Synthesis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66725" y="4663183"/>
            <a:ext cx="2590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F5-TTS / Voxtral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267075" y="3820220"/>
            <a:ext cx="2762250" cy="1152525"/>
          </a:xfrm>
          <a:custGeom>
            <a:avLst/>
            <a:gdLst/>
            <a:ahLst/>
            <a:cxnLst/>
            <a:rect l="l" t="t" r="r" b="b"/>
            <a:pathLst>
              <a:path w="2762250" h="1152525">
                <a:moveTo>
                  <a:pt x="76205" y="0"/>
                </a:moveTo>
                <a:lnTo>
                  <a:pt x="2686045" y="0"/>
                </a:lnTo>
                <a:cubicBezTo>
                  <a:pt x="2728132" y="0"/>
                  <a:pt x="2762250" y="34118"/>
                  <a:pt x="2762250" y="76205"/>
                </a:cubicBezTo>
                <a:lnTo>
                  <a:pt x="2762250" y="1076320"/>
                </a:lnTo>
                <a:cubicBezTo>
                  <a:pt x="2762250" y="1118407"/>
                  <a:pt x="2728132" y="1152525"/>
                  <a:pt x="2686045" y="1152525"/>
                </a:cubicBezTo>
                <a:lnTo>
                  <a:pt x="76205" y="1152525"/>
                </a:lnTo>
                <a:cubicBezTo>
                  <a:pt x="34118" y="1152525"/>
                  <a:pt x="0" y="1118407"/>
                  <a:pt x="0" y="1076320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 w="12700">
            <a:solidFill>
              <a:srgbClr val="4A6D8C">
                <a:alpha val="4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457700" y="393928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33" name="Text 31"/>
          <p:cNvSpPr/>
          <p:nvPr/>
        </p:nvSpPr>
        <p:spPr>
          <a:xfrm>
            <a:off x="4414838" y="3939283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3348038" y="4396483"/>
            <a:ext cx="2600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Audio Alignment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3352800" y="4663183"/>
            <a:ext cx="2590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pydub + rubberband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153150" y="3820220"/>
            <a:ext cx="2762250" cy="1152525"/>
          </a:xfrm>
          <a:custGeom>
            <a:avLst/>
            <a:gdLst/>
            <a:ahLst/>
            <a:cxnLst/>
            <a:rect l="l" t="t" r="r" b="b"/>
            <a:pathLst>
              <a:path w="2762250" h="1152525">
                <a:moveTo>
                  <a:pt x="76205" y="0"/>
                </a:moveTo>
                <a:lnTo>
                  <a:pt x="2686045" y="0"/>
                </a:lnTo>
                <a:cubicBezTo>
                  <a:pt x="2728132" y="0"/>
                  <a:pt x="2762250" y="34118"/>
                  <a:pt x="2762250" y="76205"/>
                </a:cubicBezTo>
                <a:lnTo>
                  <a:pt x="2762250" y="1076320"/>
                </a:lnTo>
                <a:cubicBezTo>
                  <a:pt x="2762250" y="1118407"/>
                  <a:pt x="2728132" y="1152525"/>
                  <a:pt x="2686045" y="1152525"/>
                </a:cubicBezTo>
                <a:lnTo>
                  <a:pt x="76205" y="1152525"/>
                </a:lnTo>
                <a:cubicBezTo>
                  <a:pt x="34118" y="1152525"/>
                  <a:pt x="0" y="1118407"/>
                  <a:pt x="0" y="1076320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 w="12700">
            <a:solidFill>
              <a:srgbClr val="4A6D8C">
                <a:alpha val="4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343775" y="393928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38" name="Text 36"/>
          <p:cNvSpPr/>
          <p:nvPr/>
        </p:nvSpPr>
        <p:spPr>
          <a:xfrm>
            <a:off x="7300913" y="3939283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234113" y="4396483"/>
            <a:ext cx="2600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Video Merge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238875" y="4663183"/>
            <a:ext cx="2590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FFmpeg mux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9039225" y="3820220"/>
            <a:ext cx="2762250" cy="1152525"/>
          </a:xfrm>
          <a:custGeom>
            <a:avLst/>
            <a:gdLst/>
            <a:ahLst/>
            <a:cxnLst/>
            <a:rect l="l" t="t" r="r" b="b"/>
            <a:pathLst>
              <a:path w="2762250" h="1152525">
                <a:moveTo>
                  <a:pt x="76205" y="0"/>
                </a:moveTo>
                <a:lnTo>
                  <a:pt x="2686045" y="0"/>
                </a:lnTo>
                <a:cubicBezTo>
                  <a:pt x="2728132" y="0"/>
                  <a:pt x="2762250" y="34118"/>
                  <a:pt x="2762250" y="76205"/>
                </a:cubicBezTo>
                <a:lnTo>
                  <a:pt x="2762250" y="1076320"/>
                </a:lnTo>
                <a:cubicBezTo>
                  <a:pt x="2762250" y="1118407"/>
                  <a:pt x="2728132" y="1152525"/>
                  <a:pt x="2686045" y="1152525"/>
                </a:cubicBezTo>
                <a:lnTo>
                  <a:pt x="76205" y="1152525"/>
                </a:lnTo>
                <a:cubicBezTo>
                  <a:pt x="34118" y="1152525"/>
                  <a:pt x="0" y="1118407"/>
                  <a:pt x="0" y="1076320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 w="12700">
            <a:solidFill>
              <a:srgbClr val="4A6D8C">
                <a:alpha val="4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229850" y="393928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43" name="Text 41"/>
          <p:cNvSpPr/>
          <p:nvPr/>
        </p:nvSpPr>
        <p:spPr>
          <a:xfrm>
            <a:off x="10186988" y="3939283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9120188" y="4396483"/>
            <a:ext cx="2600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Subtitle Generation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9124950" y="4663183"/>
            <a:ext cx="2590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Bilingual SRT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381000" y="5665912"/>
            <a:ext cx="11420475" cy="581025"/>
          </a:xfrm>
          <a:custGeom>
            <a:avLst/>
            <a:gdLst/>
            <a:ahLst/>
            <a:cxnLst/>
            <a:rect l="l" t="t" r="r" b="b"/>
            <a:pathLst>
              <a:path w="11420475" h="581025">
                <a:moveTo>
                  <a:pt x="76201" y="0"/>
                </a:moveTo>
                <a:lnTo>
                  <a:pt x="11344274" y="0"/>
                </a:lnTo>
                <a:cubicBezTo>
                  <a:pt x="11386330" y="0"/>
                  <a:pt x="11420475" y="34145"/>
                  <a:pt x="11420475" y="76201"/>
                </a:cubicBezTo>
                <a:lnTo>
                  <a:pt x="11420475" y="504824"/>
                </a:lnTo>
                <a:cubicBezTo>
                  <a:pt x="11420475" y="546880"/>
                  <a:pt x="11386330" y="581025"/>
                  <a:pt x="11344274" y="581025"/>
                </a:cubicBezTo>
                <a:lnTo>
                  <a:pt x="76201" y="581025"/>
                </a:lnTo>
                <a:cubicBezTo>
                  <a:pt x="34145" y="581025"/>
                  <a:pt x="0" y="546880"/>
                  <a:pt x="0" y="5048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C8A97E">
              <a:alpha val="10196"/>
            </a:srgbClr>
          </a:solidFill>
          <a:ln w="12700">
            <a:solidFill>
              <a:srgbClr val="C8A97E">
                <a:alpha val="30196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852704" y="58421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48" name="Text 46"/>
          <p:cNvSpPr/>
          <p:nvPr/>
        </p:nvSpPr>
        <p:spPr>
          <a:xfrm>
            <a:off x="4262279" y="5823075"/>
            <a:ext cx="4181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Output: Dubbed English video with bilingual subtitles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2857" y="362857"/>
            <a:ext cx="11538857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b="1" spc="57" kern="0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Pipeline Stage 1-2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2857" y="653143"/>
            <a:ext cx="11629571" cy="362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71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Transcription &amp; Speaker Diarization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2857" y="1124857"/>
            <a:ext cx="870857" cy="36286"/>
          </a:xfrm>
          <a:custGeom>
            <a:avLst/>
            <a:gdLst/>
            <a:ahLst/>
            <a:cxnLst/>
            <a:rect l="l" t="t" r="r" b="b"/>
            <a:pathLst>
              <a:path w="870857" h="36286">
                <a:moveTo>
                  <a:pt x="0" y="0"/>
                </a:moveTo>
                <a:lnTo>
                  <a:pt x="870857" y="0"/>
                </a:lnTo>
                <a:lnTo>
                  <a:pt x="870857" y="36286"/>
                </a:lnTo>
                <a:lnTo>
                  <a:pt x="0" y="36286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5" name="Shape 3"/>
          <p:cNvSpPr/>
          <p:nvPr/>
        </p:nvSpPr>
        <p:spPr>
          <a:xfrm>
            <a:off x="299357" y="1671514"/>
            <a:ext cx="435429" cy="435429"/>
          </a:xfrm>
          <a:custGeom>
            <a:avLst/>
            <a:gdLst/>
            <a:ahLst/>
            <a:cxnLst/>
            <a:rect l="l" t="t" r="r" b="b"/>
            <a:pathLst>
              <a:path w="435429" h="435429">
                <a:moveTo>
                  <a:pt x="72573" y="0"/>
                </a:moveTo>
                <a:lnTo>
                  <a:pt x="362856" y="0"/>
                </a:lnTo>
                <a:cubicBezTo>
                  <a:pt x="402937" y="0"/>
                  <a:pt x="435429" y="32492"/>
                  <a:pt x="435429" y="72573"/>
                </a:cubicBezTo>
                <a:lnTo>
                  <a:pt x="435429" y="362856"/>
                </a:lnTo>
                <a:cubicBezTo>
                  <a:pt x="435429" y="402937"/>
                  <a:pt x="402937" y="435429"/>
                  <a:pt x="362856" y="435429"/>
                </a:cubicBezTo>
                <a:lnTo>
                  <a:pt x="72573" y="435429"/>
                </a:lnTo>
                <a:cubicBezTo>
                  <a:pt x="32492" y="435429"/>
                  <a:pt x="0" y="402937"/>
                  <a:pt x="0" y="362856"/>
                </a:cubicBezTo>
                <a:lnTo>
                  <a:pt x="0" y="72573"/>
                </a:lnTo>
                <a:cubicBezTo>
                  <a:pt x="0" y="32519"/>
                  <a:pt x="32519" y="0"/>
                  <a:pt x="72573" y="0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6" name="Shape 4"/>
          <p:cNvSpPr/>
          <p:nvPr/>
        </p:nvSpPr>
        <p:spPr>
          <a:xfrm>
            <a:off x="449036" y="1798514"/>
            <a:ext cx="136071" cy="181429"/>
          </a:xfrm>
          <a:custGeom>
            <a:avLst/>
            <a:gdLst/>
            <a:ahLst/>
            <a:cxnLst/>
            <a:rect l="l" t="t" r="r" b="b"/>
            <a:pathLst>
              <a:path w="136071" h="181429">
                <a:moveTo>
                  <a:pt x="0" y="22679"/>
                </a:moveTo>
                <a:cubicBezTo>
                  <a:pt x="0" y="10170"/>
                  <a:pt x="10170" y="0"/>
                  <a:pt x="22679" y="0"/>
                </a:cubicBezTo>
                <a:lnTo>
                  <a:pt x="75654" y="0"/>
                </a:lnTo>
                <a:cubicBezTo>
                  <a:pt x="81678" y="0"/>
                  <a:pt x="87454" y="2374"/>
                  <a:pt x="91706" y="6626"/>
                </a:cubicBezTo>
                <a:lnTo>
                  <a:pt x="129445" y="44400"/>
                </a:lnTo>
                <a:cubicBezTo>
                  <a:pt x="133697" y="48653"/>
                  <a:pt x="136071" y="54429"/>
                  <a:pt x="136071" y="60453"/>
                </a:cubicBezTo>
                <a:lnTo>
                  <a:pt x="136071" y="158750"/>
                </a:lnTo>
                <a:cubicBezTo>
                  <a:pt x="136071" y="171259"/>
                  <a:pt x="125902" y="181429"/>
                  <a:pt x="113393" y="181429"/>
                </a:cubicBezTo>
                <a:lnTo>
                  <a:pt x="22679" y="181429"/>
                </a:lnTo>
                <a:cubicBezTo>
                  <a:pt x="10170" y="181429"/>
                  <a:pt x="0" y="171259"/>
                  <a:pt x="0" y="158750"/>
                </a:cubicBezTo>
                <a:lnTo>
                  <a:pt x="0" y="22679"/>
                </a:lnTo>
                <a:close/>
                <a:moveTo>
                  <a:pt x="73705" y="20730"/>
                </a:moveTo>
                <a:lnTo>
                  <a:pt x="73705" y="53862"/>
                </a:lnTo>
                <a:cubicBezTo>
                  <a:pt x="73705" y="58574"/>
                  <a:pt x="77497" y="62366"/>
                  <a:pt x="82210" y="62366"/>
                </a:cubicBezTo>
                <a:lnTo>
                  <a:pt x="115342" y="62366"/>
                </a:lnTo>
                <a:lnTo>
                  <a:pt x="73705" y="20730"/>
                </a:lnTo>
                <a:close/>
                <a:moveTo>
                  <a:pt x="92770" y="86356"/>
                </a:moveTo>
                <a:cubicBezTo>
                  <a:pt x="89545" y="84123"/>
                  <a:pt x="85151" y="84903"/>
                  <a:pt x="82919" y="88128"/>
                </a:cubicBezTo>
                <a:cubicBezTo>
                  <a:pt x="80686" y="91352"/>
                  <a:pt x="81466" y="95746"/>
                  <a:pt x="84690" y="97979"/>
                </a:cubicBezTo>
                <a:cubicBezTo>
                  <a:pt x="93159" y="103896"/>
                  <a:pt x="98652" y="113676"/>
                  <a:pt x="98652" y="124732"/>
                </a:cubicBezTo>
                <a:cubicBezTo>
                  <a:pt x="98652" y="135788"/>
                  <a:pt x="93124" y="145604"/>
                  <a:pt x="84690" y="151486"/>
                </a:cubicBezTo>
                <a:cubicBezTo>
                  <a:pt x="81466" y="153718"/>
                  <a:pt x="80686" y="158148"/>
                  <a:pt x="82919" y="161337"/>
                </a:cubicBezTo>
                <a:cubicBezTo>
                  <a:pt x="85151" y="164526"/>
                  <a:pt x="89580" y="165341"/>
                  <a:pt x="92770" y="163109"/>
                </a:cubicBezTo>
                <a:cubicBezTo>
                  <a:pt x="104853" y="154675"/>
                  <a:pt x="112826" y="140607"/>
                  <a:pt x="112826" y="124732"/>
                </a:cubicBezTo>
                <a:cubicBezTo>
                  <a:pt x="112826" y="108857"/>
                  <a:pt x="104888" y="94789"/>
                  <a:pt x="92770" y="86356"/>
                </a:cubicBezTo>
                <a:close/>
                <a:moveTo>
                  <a:pt x="28348" y="110558"/>
                </a:moveTo>
                <a:cubicBezTo>
                  <a:pt x="25230" y="110558"/>
                  <a:pt x="22679" y="113109"/>
                  <a:pt x="22679" y="116228"/>
                </a:cubicBezTo>
                <a:lnTo>
                  <a:pt x="22679" y="133237"/>
                </a:lnTo>
                <a:cubicBezTo>
                  <a:pt x="22679" y="136355"/>
                  <a:pt x="25230" y="138906"/>
                  <a:pt x="28348" y="138906"/>
                </a:cubicBezTo>
                <a:lnTo>
                  <a:pt x="36853" y="138906"/>
                </a:lnTo>
                <a:lnTo>
                  <a:pt x="46491" y="150954"/>
                </a:lnTo>
                <a:cubicBezTo>
                  <a:pt x="47554" y="152301"/>
                  <a:pt x="49184" y="153080"/>
                  <a:pt x="50920" y="153080"/>
                </a:cubicBezTo>
                <a:lnTo>
                  <a:pt x="51027" y="153080"/>
                </a:lnTo>
                <a:cubicBezTo>
                  <a:pt x="54145" y="153080"/>
                  <a:pt x="56696" y="150529"/>
                  <a:pt x="56696" y="147411"/>
                </a:cubicBezTo>
                <a:lnTo>
                  <a:pt x="56696" y="102054"/>
                </a:lnTo>
                <a:cubicBezTo>
                  <a:pt x="56696" y="98935"/>
                  <a:pt x="54145" y="96384"/>
                  <a:pt x="51027" y="96384"/>
                </a:cubicBezTo>
                <a:lnTo>
                  <a:pt x="50920" y="96384"/>
                </a:lnTo>
                <a:cubicBezTo>
                  <a:pt x="49184" y="96384"/>
                  <a:pt x="47554" y="97164"/>
                  <a:pt x="46491" y="98510"/>
                </a:cubicBezTo>
                <a:lnTo>
                  <a:pt x="36853" y="110558"/>
                </a:lnTo>
                <a:lnTo>
                  <a:pt x="28348" y="110558"/>
                </a:lnTo>
                <a:close/>
                <a:moveTo>
                  <a:pt x="73705" y="136142"/>
                </a:moveTo>
                <a:cubicBezTo>
                  <a:pt x="73705" y="139934"/>
                  <a:pt x="77426" y="142592"/>
                  <a:pt x="80403" y="140253"/>
                </a:cubicBezTo>
                <a:cubicBezTo>
                  <a:pt x="84974" y="136603"/>
                  <a:pt x="87879" y="131004"/>
                  <a:pt x="87879" y="124732"/>
                </a:cubicBezTo>
                <a:cubicBezTo>
                  <a:pt x="87879" y="118460"/>
                  <a:pt x="84974" y="112861"/>
                  <a:pt x="80403" y="109211"/>
                </a:cubicBezTo>
                <a:cubicBezTo>
                  <a:pt x="77426" y="106837"/>
                  <a:pt x="73705" y="109530"/>
                  <a:pt x="73705" y="113322"/>
                </a:cubicBezTo>
                <a:lnTo>
                  <a:pt x="73705" y="136178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7" name="Text 5"/>
          <p:cNvSpPr/>
          <p:nvPr/>
        </p:nvSpPr>
        <p:spPr>
          <a:xfrm>
            <a:off x="843643" y="1744086"/>
            <a:ext cx="1442357" cy="290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14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Transcription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99357" y="2742121"/>
            <a:ext cx="5606143" cy="852714"/>
          </a:xfrm>
          <a:custGeom>
            <a:avLst/>
            <a:gdLst/>
            <a:ahLst/>
            <a:cxnLst/>
            <a:rect l="l" t="t" r="r" b="b"/>
            <a:pathLst>
              <a:path w="5606143" h="852714">
                <a:moveTo>
                  <a:pt x="0" y="0"/>
                </a:moveTo>
                <a:lnTo>
                  <a:pt x="5533568" y="0"/>
                </a:lnTo>
                <a:cubicBezTo>
                  <a:pt x="5573650" y="0"/>
                  <a:pt x="5606143" y="32493"/>
                  <a:pt x="5606143" y="72575"/>
                </a:cubicBezTo>
                <a:lnTo>
                  <a:pt x="5606143" y="780140"/>
                </a:lnTo>
                <a:cubicBezTo>
                  <a:pt x="5606143" y="820222"/>
                  <a:pt x="5573650" y="852714"/>
                  <a:pt x="5533568" y="852714"/>
                </a:cubicBezTo>
                <a:lnTo>
                  <a:pt x="0" y="852714"/>
                </a:lnTo>
                <a:lnTo>
                  <a:pt x="0" y="0"/>
                </a:lnTo>
                <a:close/>
              </a:path>
            </a:pathLst>
          </a:custGeom>
          <a:solidFill>
            <a:srgbClr val="4A6D8C">
              <a:alpha val="10196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299357" y="2742121"/>
            <a:ext cx="36286" cy="852714"/>
          </a:xfrm>
          <a:custGeom>
            <a:avLst/>
            <a:gdLst/>
            <a:ahLst/>
            <a:cxnLst/>
            <a:rect l="l" t="t" r="r" b="b"/>
            <a:pathLst>
              <a:path w="36286" h="852714">
                <a:moveTo>
                  <a:pt x="0" y="0"/>
                </a:moveTo>
                <a:lnTo>
                  <a:pt x="36286" y="0"/>
                </a:lnTo>
                <a:lnTo>
                  <a:pt x="36286" y="852714"/>
                </a:lnTo>
                <a:lnTo>
                  <a:pt x="0" y="852714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10" name="Text 8"/>
          <p:cNvSpPr/>
          <p:nvPr/>
        </p:nvSpPr>
        <p:spPr>
          <a:xfrm>
            <a:off x="462643" y="2887264"/>
            <a:ext cx="537935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6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Model: faster-whisper large-v3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2643" y="3213835"/>
            <a:ext cx="5370286" cy="235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3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State-of-the-art OpenAI Whisper implementation optimized for speed and accuracy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99357" y="3703692"/>
            <a:ext cx="5606143" cy="852714"/>
          </a:xfrm>
          <a:custGeom>
            <a:avLst/>
            <a:gdLst/>
            <a:ahLst/>
            <a:cxnLst/>
            <a:rect l="l" t="t" r="r" b="b"/>
            <a:pathLst>
              <a:path w="5606143" h="852714">
                <a:moveTo>
                  <a:pt x="0" y="0"/>
                </a:moveTo>
                <a:lnTo>
                  <a:pt x="5533568" y="0"/>
                </a:lnTo>
                <a:cubicBezTo>
                  <a:pt x="5573650" y="0"/>
                  <a:pt x="5606143" y="32493"/>
                  <a:pt x="5606143" y="72575"/>
                </a:cubicBezTo>
                <a:lnTo>
                  <a:pt x="5606143" y="780140"/>
                </a:lnTo>
                <a:cubicBezTo>
                  <a:pt x="5606143" y="820222"/>
                  <a:pt x="5573650" y="852714"/>
                  <a:pt x="5533568" y="852714"/>
                </a:cubicBezTo>
                <a:lnTo>
                  <a:pt x="0" y="852714"/>
                </a:lnTo>
                <a:lnTo>
                  <a:pt x="0" y="0"/>
                </a:lnTo>
                <a:close/>
              </a:path>
            </a:pathLst>
          </a:custGeom>
          <a:solidFill>
            <a:srgbClr val="4A6D8C">
              <a:alpha val="10196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99357" y="3703692"/>
            <a:ext cx="36286" cy="852714"/>
          </a:xfrm>
          <a:custGeom>
            <a:avLst/>
            <a:gdLst/>
            <a:ahLst/>
            <a:cxnLst/>
            <a:rect l="l" t="t" r="r" b="b"/>
            <a:pathLst>
              <a:path w="36286" h="852714">
                <a:moveTo>
                  <a:pt x="0" y="0"/>
                </a:moveTo>
                <a:lnTo>
                  <a:pt x="36286" y="0"/>
                </a:lnTo>
                <a:lnTo>
                  <a:pt x="36286" y="852714"/>
                </a:lnTo>
                <a:lnTo>
                  <a:pt x="0" y="852714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14" name="Text 12"/>
          <p:cNvSpPr/>
          <p:nvPr/>
        </p:nvSpPr>
        <p:spPr>
          <a:xfrm>
            <a:off x="462643" y="3848835"/>
            <a:ext cx="537935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6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Infrastructure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2643" y="4175407"/>
            <a:ext cx="5370286" cy="235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3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Runs on RunPod serverless GPU (H100/A100) for cost-effective, scalable processing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99357" y="5083231"/>
            <a:ext cx="5615214" cy="807357"/>
          </a:xfrm>
          <a:custGeom>
            <a:avLst/>
            <a:gdLst/>
            <a:ahLst/>
            <a:cxnLst/>
            <a:rect l="l" t="t" r="r" b="b"/>
            <a:pathLst>
              <a:path w="5615214" h="807357">
                <a:moveTo>
                  <a:pt x="72573" y="0"/>
                </a:moveTo>
                <a:lnTo>
                  <a:pt x="5542641" y="0"/>
                </a:lnTo>
                <a:cubicBezTo>
                  <a:pt x="5582722" y="0"/>
                  <a:pt x="5615214" y="32492"/>
                  <a:pt x="5615214" y="72573"/>
                </a:cubicBezTo>
                <a:lnTo>
                  <a:pt x="5615214" y="734784"/>
                </a:lnTo>
                <a:cubicBezTo>
                  <a:pt x="5615214" y="774865"/>
                  <a:pt x="5582722" y="807357"/>
                  <a:pt x="5542641" y="807357"/>
                </a:cubicBezTo>
                <a:lnTo>
                  <a:pt x="72573" y="807357"/>
                </a:lnTo>
                <a:cubicBezTo>
                  <a:pt x="32519" y="807357"/>
                  <a:pt x="0" y="774838"/>
                  <a:pt x="0" y="734784"/>
                </a:cubicBezTo>
                <a:lnTo>
                  <a:pt x="0" y="72573"/>
                </a:lnTo>
                <a:cubicBezTo>
                  <a:pt x="0" y="32519"/>
                  <a:pt x="32519" y="0"/>
                  <a:pt x="72573" y="0"/>
                </a:cubicBezTo>
                <a:close/>
              </a:path>
            </a:pathLst>
          </a:custGeom>
          <a:solidFill>
            <a:srgbClr val="C8A97E">
              <a:alpha val="10196"/>
            </a:srgbClr>
          </a:solidFill>
          <a:ln w="12700">
            <a:solidFill>
              <a:srgbClr val="C8A97E">
                <a:alpha val="30196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9036" y="5232910"/>
            <a:ext cx="5388429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b="1" dirty="0">
                <a:solidFill>
                  <a:srgbClr val="C8A9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Output Format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49036" y="5523196"/>
            <a:ext cx="5388429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JSON segments with: </a:t>
            </a:r>
            <a:pPr>
              <a:lnSpc>
                <a:spcPct val="120000"/>
              </a:lnSpc>
            </a:pPr>
            <a:r>
              <a:rPr lang="en-US" sz="1143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start</a:t>
            </a:r>
            <a:pPr>
              <a:lnSpc>
                <a:spcPct val="120000"/>
              </a:lnSpc>
            </a:pPr>
            <a:r>
              <a:rPr lang="en-US" sz="1143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</a:t>
            </a:r>
            <a:pPr>
              <a:lnSpc>
                <a:spcPct val="120000"/>
              </a:lnSpc>
            </a:pPr>
            <a:r>
              <a:rPr lang="en-US" sz="1143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end</a:t>
            </a:r>
            <a:pPr>
              <a:lnSpc>
                <a:spcPct val="120000"/>
              </a:lnSpc>
            </a:pPr>
            <a:r>
              <a:rPr lang="en-US" sz="1143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</a:t>
            </a:r>
            <a:pPr>
              <a:lnSpc>
                <a:spcPct val="120000"/>
              </a:lnSpc>
            </a:pPr>
            <a:r>
              <a:rPr lang="en-US" sz="1143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text_src</a:t>
            </a:r>
            <a:pPr>
              <a:lnSpc>
                <a:spcPct val="120000"/>
              </a:lnSpc>
            </a:pPr>
            <a:r>
              <a:rPr lang="en-US" sz="1143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per sentence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141357" y="1671514"/>
            <a:ext cx="435429" cy="435429"/>
          </a:xfrm>
          <a:custGeom>
            <a:avLst/>
            <a:gdLst/>
            <a:ahLst/>
            <a:cxnLst/>
            <a:rect l="l" t="t" r="r" b="b"/>
            <a:pathLst>
              <a:path w="435429" h="435429">
                <a:moveTo>
                  <a:pt x="72573" y="0"/>
                </a:moveTo>
                <a:lnTo>
                  <a:pt x="362856" y="0"/>
                </a:lnTo>
                <a:cubicBezTo>
                  <a:pt x="402937" y="0"/>
                  <a:pt x="435429" y="32492"/>
                  <a:pt x="435429" y="72573"/>
                </a:cubicBezTo>
                <a:lnTo>
                  <a:pt x="435429" y="362856"/>
                </a:lnTo>
                <a:cubicBezTo>
                  <a:pt x="435429" y="402937"/>
                  <a:pt x="402937" y="435429"/>
                  <a:pt x="362856" y="435429"/>
                </a:cubicBezTo>
                <a:lnTo>
                  <a:pt x="72573" y="435429"/>
                </a:lnTo>
                <a:cubicBezTo>
                  <a:pt x="32492" y="435429"/>
                  <a:pt x="0" y="402937"/>
                  <a:pt x="0" y="362856"/>
                </a:cubicBezTo>
                <a:lnTo>
                  <a:pt x="0" y="72573"/>
                </a:lnTo>
                <a:cubicBezTo>
                  <a:pt x="0" y="32519"/>
                  <a:pt x="32519" y="0"/>
                  <a:pt x="72573" y="0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20" name="Shape 18"/>
          <p:cNvSpPr/>
          <p:nvPr/>
        </p:nvSpPr>
        <p:spPr>
          <a:xfrm>
            <a:off x="6245679" y="1798514"/>
            <a:ext cx="226786" cy="181429"/>
          </a:xfrm>
          <a:custGeom>
            <a:avLst/>
            <a:gdLst/>
            <a:ahLst/>
            <a:cxnLst/>
            <a:rect l="l" t="t" r="r" b="b"/>
            <a:pathLst>
              <a:path w="226786" h="181429">
                <a:moveTo>
                  <a:pt x="113393" y="5670"/>
                </a:moveTo>
                <a:cubicBezTo>
                  <a:pt x="133732" y="5670"/>
                  <a:pt x="150246" y="22183"/>
                  <a:pt x="150246" y="42522"/>
                </a:cubicBezTo>
                <a:cubicBezTo>
                  <a:pt x="150246" y="62862"/>
                  <a:pt x="133732" y="79375"/>
                  <a:pt x="113393" y="79375"/>
                </a:cubicBezTo>
                <a:cubicBezTo>
                  <a:pt x="93053" y="79375"/>
                  <a:pt x="76540" y="62862"/>
                  <a:pt x="76540" y="42522"/>
                </a:cubicBezTo>
                <a:cubicBezTo>
                  <a:pt x="76540" y="22183"/>
                  <a:pt x="93053" y="5670"/>
                  <a:pt x="113393" y="5670"/>
                </a:cubicBezTo>
                <a:close/>
                <a:moveTo>
                  <a:pt x="34018" y="31183"/>
                </a:moveTo>
                <a:cubicBezTo>
                  <a:pt x="48099" y="31183"/>
                  <a:pt x="59531" y="42615"/>
                  <a:pt x="59531" y="56696"/>
                </a:cubicBezTo>
                <a:cubicBezTo>
                  <a:pt x="59531" y="70778"/>
                  <a:pt x="48099" y="82210"/>
                  <a:pt x="34018" y="82210"/>
                </a:cubicBezTo>
                <a:cubicBezTo>
                  <a:pt x="19937" y="82210"/>
                  <a:pt x="8504" y="70778"/>
                  <a:pt x="8504" y="56696"/>
                </a:cubicBezTo>
                <a:cubicBezTo>
                  <a:pt x="8504" y="42615"/>
                  <a:pt x="19937" y="31183"/>
                  <a:pt x="34018" y="31183"/>
                </a:cubicBezTo>
                <a:close/>
                <a:moveTo>
                  <a:pt x="0" y="147411"/>
                </a:moveTo>
                <a:cubicBezTo>
                  <a:pt x="0" y="122358"/>
                  <a:pt x="20304" y="102054"/>
                  <a:pt x="45357" y="102054"/>
                </a:cubicBezTo>
                <a:cubicBezTo>
                  <a:pt x="49893" y="102054"/>
                  <a:pt x="54287" y="102727"/>
                  <a:pt x="58433" y="103967"/>
                </a:cubicBezTo>
                <a:cubicBezTo>
                  <a:pt x="46775" y="117007"/>
                  <a:pt x="39688" y="134229"/>
                  <a:pt x="39688" y="153080"/>
                </a:cubicBezTo>
                <a:lnTo>
                  <a:pt x="39688" y="158750"/>
                </a:lnTo>
                <a:cubicBezTo>
                  <a:pt x="39688" y="162790"/>
                  <a:pt x="40538" y="166617"/>
                  <a:pt x="42062" y="170089"/>
                </a:cubicBezTo>
                <a:lnTo>
                  <a:pt x="11339" y="170089"/>
                </a:lnTo>
                <a:cubicBezTo>
                  <a:pt x="5067" y="170089"/>
                  <a:pt x="0" y="165022"/>
                  <a:pt x="0" y="158750"/>
                </a:cubicBezTo>
                <a:lnTo>
                  <a:pt x="0" y="147411"/>
                </a:lnTo>
                <a:close/>
                <a:moveTo>
                  <a:pt x="184724" y="170089"/>
                </a:moveTo>
                <a:cubicBezTo>
                  <a:pt x="186248" y="166617"/>
                  <a:pt x="187098" y="162790"/>
                  <a:pt x="187098" y="158750"/>
                </a:cubicBezTo>
                <a:lnTo>
                  <a:pt x="187098" y="153080"/>
                </a:lnTo>
                <a:cubicBezTo>
                  <a:pt x="187098" y="134229"/>
                  <a:pt x="180011" y="117007"/>
                  <a:pt x="168353" y="103967"/>
                </a:cubicBezTo>
                <a:cubicBezTo>
                  <a:pt x="172499" y="102727"/>
                  <a:pt x="176893" y="102054"/>
                  <a:pt x="181429" y="102054"/>
                </a:cubicBezTo>
                <a:cubicBezTo>
                  <a:pt x="206481" y="102054"/>
                  <a:pt x="226786" y="122358"/>
                  <a:pt x="226786" y="147411"/>
                </a:cubicBezTo>
                <a:lnTo>
                  <a:pt x="226786" y="158750"/>
                </a:lnTo>
                <a:cubicBezTo>
                  <a:pt x="226786" y="165022"/>
                  <a:pt x="221718" y="170089"/>
                  <a:pt x="215446" y="170089"/>
                </a:cubicBezTo>
                <a:lnTo>
                  <a:pt x="184724" y="170089"/>
                </a:lnTo>
                <a:close/>
                <a:moveTo>
                  <a:pt x="167254" y="56696"/>
                </a:moveTo>
                <a:cubicBezTo>
                  <a:pt x="167254" y="42615"/>
                  <a:pt x="178687" y="31183"/>
                  <a:pt x="192768" y="31183"/>
                </a:cubicBezTo>
                <a:cubicBezTo>
                  <a:pt x="206849" y="31183"/>
                  <a:pt x="218281" y="42615"/>
                  <a:pt x="218281" y="56696"/>
                </a:cubicBezTo>
                <a:cubicBezTo>
                  <a:pt x="218281" y="70778"/>
                  <a:pt x="206849" y="82210"/>
                  <a:pt x="192768" y="82210"/>
                </a:cubicBezTo>
                <a:cubicBezTo>
                  <a:pt x="178687" y="82210"/>
                  <a:pt x="167254" y="70778"/>
                  <a:pt x="167254" y="56696"/>
                </a:cubicBezTo>
                <a:close/>
                <a:moveTo>
                  <a:pt x="56696" y="153080"/>
                </a:moveTo>
                <a:cubicBezTo>
                  <a:pt x="56696" y="121756"/>
                  <a:pt x="82068" y="96384"/>
                  <a:pt x="113393" y="96384"/>
                </a:cubicBezTo>
                <a:cubicBezTo>
                  <a:pt x="144718" y="96384"/>
                  <a:pt x="170089" y="121756"/>
                  <a:pt x="170089" y="153080"/>
                </a:cubicBezTo>
                <a:lnTo>
                  <a:pt x="170089" y="158750"/>
                </a:lnTo>
                <a:cubicBezTo>
                  <a:pt x="170089" y="165022"/>
                  <a:pt x="165022" y="170089"/>
                  <a:pt x="158750" y="170089"/>
                </a:cubicBezTo>
                <a:lnTo>
                  <a:pt x="68036" y="170089"/>
                </a:lnTo>
                <a:cubicBezTo>
                  <a:pt x="61764" y="170089"/>
                  <a:pt x="56696" y="165022"/>
                  <a:pt x="56696" y="158750"/>
                </a:cubicBezTo>
                <a:lnTo>
                  <a:pt x="56696" y="153080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1" name="Text 19"/>
          <p:cNvSpPr/>
          <p:nvPr/>
        </p:nvSpPr>
        <p:spPr>
          <a:xfrm>
            <a:off x="6685643" y="1744086"/>
            <a:ext cx="2050143" cy="290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14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Speaker Diarization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132286" y="2742121"/>
            <a:ext cx="5606143" cy="852714"/>
          </a:xfrm>
          <a:custGeom>
            <a:avLst/>
            <a:gdLst/>
            <a:ahLst/>
            <a:cxnLst/>
            <a:rect l="l" t="t" r="r" b="b"/>
            <a:pathLst>
              <a:path w="5606143" h="852714">
                <a:moveTo>
                  <a:pt x="0" y="0"/>
                </a:moveTo>
                <a:lnTo>
                  <a:pt x="5533568" y="0"/>
                </a:lnTo>
                <a:cubicBezTo>
                  <a:pt x="5573650" y="0"/>
                  <a:pt x="5606143" y="32493"/>
                  <a:pt x="5606143" y="72575"/>
                </a:cubicBezTo>
                <a:lnTo>
                  <a:pt x="5606143" y="780140"/>
                </a:lnTo>
                <a:cubicBezTo>
                  <a:pt x="5606143" y="820222"/>
                  <a:pt x="5573650" y="852714"/>
                  <a:pt x="5533568" y="852714"/>
                </a:cubicBezTo>
                <a:lnTo>
                  <a:pt x="0" y="852714"/>
                </a:lnTo>
                <a:lnTo>
                  <a:pt x="0" y="0"/>
                </a:lnTo>
                <a:close/>
              </a:path>
            </a:pathLst>
          </a:custGeom>
          <a:solidFill>
            <a:srgbClr val="4A6D8C">
              <a:alpha val="10196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132286" y="2742121"/>
            <a:ext cx="36286" cy="852714"/>
          </a:xfrm>
          <a:custGeom>
            <a:avLst/>
            <a:gdLst/>
            <a:ahLst/>
            <a:cxnLst/>
            <a:rect l="l" t="t" r="r" b="b"/>
            <a:pathLst>
              <a:path w="36286" h="852714">
                <a:moveTo>
                  <a:pt x="0" y="0"/>
                </a:moveTo>
                <a:lnTo>
                  <a:pt x="36286" y="0"/>
                </a:lnTo>
                <a:lnTo>
                  <a:pt x="36286" y="852714"/>
                </a:lnTo>
                <a:lnTo>
                  <a:pt x="0" y="852714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24" name="Text 22"/>
          <p:cNvSpPr/>
          <p:nvPr/>
        </p:nvSpPr>
        <p:spPr>
          <a:xfrm>
            <a:off x="6295571" y="2887264"/>
            <a:ext cx="537935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6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Model: pyannote-audio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295571" y="3213835"/>
            <a:ext cx="5370286" cy="235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3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Industry-standard speaker diarization pipeline from HuggingFace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132286" y="3703692"/>
            <a:ext cx="5606143" cy="852714"/>
          </a:xfrm>
          <a:custGeom>
            <a:avLst/>
            <a:gdLst/>
            <a:ahLst/>
            <a:cxnLst/>
            <a:rect l="l" t="t" r="r" b="b"/>
            <a:pathLst>
              <a:path w="5606143" h="852714">
                <a:moveTo>
                  <a:pt x="0" y="0"/>
                </a:moveTo>
                <a:lnTo>
                  <a:pt x="5533568" y="0"/>
                </a:lnTo>
                <a:cubicBezTo>
                  <a:pt x="5573650" y="0"/>
                  <a:pt x="5606143" y="32493"/>
                  <a:pt x="5606143" y="72575"/>
                </a:cubicBezTo>
                <a:lnTo>
                  <a:pt x="5606143" y="780140"/>
                </a:lnTo>
                <a:cubicBezTo>
                  <a:pt x="5606143" y="820222"/>
                  <a:pt x="5573650" y="852714"/>
                  <a:pt x="5533568" y="852714"/>
                </a:cubicBezTo>
                <a:lnTo>
                  <a:pt x="0" y="852714"/>
                </a:lnTo>
                <a:lnTo>
                  <a:pt x="0" y="0"/>
                </a:lnTo>
                <a:close/>
              </a:path>
            </a:pathLst>
          </a:custGeom>
          <a:solidFill>
            <a:srgbClr val="4A6D8C">
              <a:alpha val="10196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132286" y="3703692"/>
            <a:ext cx="36286" cy="852714"/>
          </a:xfrm>
          <a:custGeom>
            <a:avLst/>
            <a:gdLst/>
            <a:ahLst/>
            <a:cxnLst/>
            <a:rect l="l" t="t" r="r" b="b"/>
            <a:pathLst>
              <a:path w="36286" h="852714">
                <a:moveTo>
                  <a:pt x="0" y="0"/>
                </a:moveTo>
                <a:lnTo>
                  <a:pt x="36286" y="0"/>
                </a:lnTo>
                <a:lnTo>
                  <a:pt x="36286" y="852714"/>
                </a:lnTo>
                <a:lnTo>
                  <a:pt x="0" y="852714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28" name="Text 26"/>
          <p:cNvSpPr/>
          <p:nvPr/>
        </p:nvSpPr>
        <p:spPr>
          <a:xfrm>
            <a:off x="6295571" y="3848835"/>
            <a:ext cx="537935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6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Local Processing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295571" y="4175407"/>
            <a:ext cx="5370286" cy="235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3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Runs on CPU locally to avoid GPU costs, optimizing infrastructure expenses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141357" y="5083231"/>
            <a:ext cx="5615214" cy="807357"/>
          </a:xfrm>
          <a:custGeom>
            <a:avLst/>
            <a:gdLst/>
            <a:ahLst/>
            <a:cxnLst/>
            <a:rect l="l" t="t" r="r" b="b"/>
            <a:pathLst>
              <a:path w="5615214" h="807357">
                <a:moveTo>
                  <a:pt x="72573" y="0"/>
                </a:moveTo>
                <a:lnTo>
                  <a:pt x="5542641" y="0"/>
                </a:lnTo>
                <a:cubicBezTo>
                  <a:pt x="5582722" y="0"/>
                  <a:pt x="5615214" y="32492"/>
                  <a:pt x="5615214" y="72573"/>
                </a:cubicBezTo>
                <a:lnTo>
                  <a:pt x="5615214" y="734784"/>
                </a:lnTo>
                <a:cubicBezTo>
                  <a:pt x="5615214" y="774865"/>
                  <a:pt x="5582722" y="807357"/>
                  <a:pt x="5542641" y="807357"/>
                </a:cubicBezTo>
                <a:lnTo>
                  <a:pt x="72573" y="807357"/>
                </a:lnTo>
                <a:cubicBezTo>
                  <a:pt x="32519" y="807357"/>
                  <a:pt x="0" y="774838"/>
                  <a:pt x="0" y="734784"/>
                </a:cubicBezTo>
                <a:lnTo>
                  <a:pt x="0" y="72573"/>
                </a:lnTo>
                <a:cubicBezTo>
                  <a:pt x="0" y="32519"/>
                  <a:pt x="32519" y="0"/>
                  <a:pt x="72573" y="0"/>
                </a:cubicBezTo>
                <a:close/>
              </a:path>
            </a:pathLst>
          </a:custGeom>
          <a:solidFill>
            <a:srgbClr val="C8A97E">
              <a:alpha val="10196"/>
            </a:srgbClr>
          </a:solidFill>
          <a:ln w="12700">
            <a:solidFill>
              <a:srgbClr val="C8A97E">
                <a:alpha val="30196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91036" y="5232910"/>
            <a:ext cx="5388429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b="1" dirty="0">
                <a:solidFill>
                  <a:srgbClr val="C8A9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Voice Reference Extraction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291036" y="5523196"/>
            <a:ext cx="5388429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Extracts </a:t>
            </a:r>
            <a:pPr>
              <a:lnSpc>
                <a:spcPct val="120000"/>
              </a:lnSpc>
            </a:pPr>
            <a:r>
              <a:rPr lang="en-US" sz="1143" b="1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3-10 second</a:t>
            </a:r>
            <a:pPr>
              <a:lnSpc>
                <a:spcPct val="120000"/>
              </a:lnSpc>
            </a:pPr>
            <a:r>
              <a:rPr lang="en-US" sz="1143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voice reference clips per speaker for TTS cloning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7229" y="367229"/>
            <a:ext cx="11530988" cy="2203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7" b="1" spc="58" kern="0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Pipeline Stage 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7229" y="661012"/>
            <a:ext cx="11622795" cy="367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02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Translation Engine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7229" y="1138410"/>
            <a:ext cx="881349" cy="36723"/>
          </a:xfrm>
          <a:custGeom>
            <a:avLst/>
            <a:gdLst/>
            <a:ahLst/>
            <a:cxnLst/>
            <a:rect l="l" t="t" r="r" b="b"/>
            <a:pathLst>
              <a:path w="881349" h="36723">
                <a:moveTo>
                  <a:pt x="0" y="0"/>
                </a:moveTo>
                <a:lnTo>
                  <a:pt x="881349" y="0"/>
                </a:lnTo>
                <a:lnTo>
                  <a:pt x="881349" y="36723"/>
                </a:lnTo>
                <a:lnTo>
                  <a:pt x="0" y="36723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5" name="Shape 3"/>
          <p:cNvSpPr/>
          <p:nvPr/>
        </p:nvSpPr>
        <p:spPr>
          <a:xfrm>
            <a:off x="367229" y="1322024"/>
            <a:ext cx="440675" cy="440675"/>
          </a:xfrm>
          <a:custGeom>
            <a:avLst/>
            <a:gdLst/>
            <a:ahLst/>
            <a:cxnLst/>
            <a:rect l="l" t="t" r="r" b="b"/>
            <a:pathLst>
              <a:path w="440675" h="440675">
                <a:moveTo>
                  <a:pt x="73447" y="0"/>
                </a:moveTo>
                <a:lnTo>
                  <a:pt x="367227" y="0"/>
                </a:lnTo>
                <a:cubicBezTo>
                  <a:pt x="407764" y="0"/>
                  <a:pt x="440675" y="32911"/>
                  <a:pt x="440675" y="73447"/>
                </a:cubicBezTo>
                <a:lnTo>
                  <a:pt x="440675" y="367227"/>
                </a:lnTo>
                <a:cubicBezTo>
                  <a:pt x="440675" y="407791"/>
                  <a:pt x="407791" y="440675"/>
                  <a:pt x="367227" y="440675"/>
                </a:cubicBezTo>
                <a:lnTo>
                  <a:pt x="73447" y="440675"/>
                </a:lnTo>
                <a:cubicBezTo>
                  <a:pt x="32911" y="440675"/>
                  <a:pt x="0" y="407764"/>
                  <a:pt x="0" y="367227"/>
                </a:cubicBezTo>
                <a:lnTo>
                  <a:pt x="0" y="73447"/>
                </a:lnTo>
                <a:cubicBezTo>
                  <a:pt x="0" y="32883"/>
                  <a:pt x="32883" y="0"/>
                  <a:pt x="73447" y="0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6" name="Shape 4"/>
          <p:cNvSpPr/>
          <p:nvPr/>
        </p:nvSpPr>
        <p:spPr>
          <a:xfrm>
            <a:off x="484283" y="1450554"/>
            <a:ext cx="206566" cy="183614"/>
          </a:xfrm>
          <a:custGeom>
            <a:avLst/>
            <a:gdLst/>
            <a:ahLst/>
            <a:cxnLst/>
            <a:rect l="l" t="t" r="r" b="b"/>
            <a:pathLst>
              <a:path w="206566" h="183614">
                <a:moveTo>
                  <a:pt x="57380" y="0"/>
                </a:moveTo>
                <a:cubicBezTo>
                  <a:pt x="63727" y="0"/>
                  <a:pt x="68855" y="5128"/>
                  <a:pt x="68855" y="11476"/>
                </a:cubicBezTo>
                <a:lnTo>
                  <a:pt x="68855" y="22952"/>
                </a:lnTo>
                <a:lnTo>
                  <a:pt x="114759" y="22952"/>
                </a:lnTo>
                <a:cubicBezTo>
                  <a:pt x="121107" y="22952"/>
                  <a:pt x="126235" y="28080"/>
                  <a:pt x="126235" y="34428"/>
                </a:cubicBezTo>
                <a:cubicBezTo>
                  <a:pt x="126235" y="40775"/>
                  <a:pt x="121107" y="45904"/>
                  <a:pt x="114759" y="45904"/>
                </a:cubicBezTo>
                <a:lnTo>
                  <a:pt x="111316" y="45904"/>
                </a:lnTo>
                <a:lnTo>
                  <a:pt x="108304" y="54188"/>
                </a:lnTo>
                <a:cubicBezTo>
                  <a:pt x="102422" y="70397"/>
                  <a:pt x="93564" y="85209"/>
                  <a:pt x="82411" y="97940"/>
                </a:cubicBezTo>
                <a:cubicBezTo>
                  <a:pt x="87504" y="101096"/>
                  <a:pt x="92811" y="103893"/>
                  <a:pt x="98334" y="106367"/>
                </a:cubicBezTo>
                <a:lnTo>
                  <a:pt x="116409" y="114400"/>
                </a:lnTo>
                <a:lnTo>
                  <a:pt x="138715" y="64193"/>
                </a:lnTo>
                <a:cubicBezTo>
                  <a:pt x="140544" y="60033"/>
                  <a:pt x="144668" y="57380"/>
                  <a:pt x="149187" y="57380"/>
                </a:cubicBezTo>
                <a:cubicBezTo>
                  <a:pt x="153705" y="57380"/>
                  <a:pt x="157830" y="60033"/>
                  <a:pt x="159659" y="64193"/>
                </a:cubicBezTo>
                <a:lnTo>
                  <a:pt x="205562" y="167476"/>
                </a:lnTo>
                <a:cubicBezTo>
                  <a:pt x="208144" y="173286"/>
                  <a:pt x="205526" y="180064"/>
                  <a:pt x="199752" y="182610"/>
                </a:cubicBezTo>
                <a:cubicBezTo>
                  <a:pt x="193979" y="185157"/>
                  <a:pt x="187165" y="182574"/>
                  <a:pt x="184619" y="176801"/>
                </a:cubicBezTo>
                <a:lnTo>
                  <a:pt x="177446" y="160663"/>
                </a:lnTo>
                <a:lnTo>
                  <a:pt x="120963" y="160663"/>
                </a:lnTo>
                <a:lnTo>
                  <a:pt x="113791" y="176801"/>
                </a:lnTo>
                <a:cubicBezTo>
                  <a:pt x="111209" y="182610"/>
                  <a:pt x="104431" y="185192"/>
                  <a:pt x="98657" y="182610"/>
                </a:cubicBezTo>
                <a:cubicBezTo>
                  <a:pt x="92883" y="180028"/>
                  <a:pt x="90265" y="173250"/>
                  <a:pt x="92847" y="167476"/>
                </a:cubicBezTo>
                <a:lnTo>
                  <a:pt x="107120" y="135380"/>
                </a:lnTo>
                <a:lnTo>
                  <a:pt x="89046" y="127347"/>
                </a:lnTo>
                <a:cubicBezTo>
                  <a:pt x="80798" y="123689"/>
                  <a:pt x="72908" y="119314"/>
                  <a:pt x="65449" y="114293"/>
                </a:cubicBezTo>
                <a:cubicBezTo>
                  <a:pt x="57810" y="120461"/>
                  <a:pt x="49454" y="125840"/>
                  <a:pt x="40524" y="130323"/>
                </a:cubicBezTo>
                <a:lnTo>
                  <a:pt x="28080" y="136492"/>
                </a:lnTo>
                <a:cubicBezTo>
                  <a:pt x="22414" y="139325"/>
                  <a:pt x="15528" y="137029"/>
                  <a:pt x="12695" y="131363"/>
                </a:cubicBezTo>
                <a:cubicBezTo>
                  <a:pt x="9862" y="125697"/>
                  <a:pt x="12157" y="118811"/>
                  <a:pt x="17824" y="115978"/>
                </a:cubicBezTo>
                <a:lnTo>
                  <a:pt x="30196" y="109774"/>
                </a:lnTo>
                <a:cubicBezTo>
                  <a:pt x="36042" y="106833"/>
                  <a:pt x="41600" y="103427"/>
                  <a:pt x="46836" y="99625"/>
                </a:cubicBezTo>
                <a:cubicBezTo>
                  <a:pt x="41887" y="95071"/>
                  <a:pt x="37225" y="90158"/>
                  <a:pt x="32886" y="84958"/>
                </a:cubicBezTo>
                <a:lnTo>
                  <a:pt x="29264" y="80582"/>
                </a:lnTo>
                <a:cubicBezTo>
                  <a:pt x="25211" y="75705"/>
                  <a:pt x="25857" y="68461"/>
                  <a:pt x="30734" y="64409"/>
                </a:cubicBezTo>
                <a:cubicBezTo>
                  <a:pt x="35611" y="60356"/>
                  <a:pt x="42855" y="61002"/>
                  <a:pt x="46908" y="65879"/>
                </a:cubicBezTo>
                <a:lnTo>
                  <a:pt x="50566" y="70254"/>
                </a:lnTo>
                <a:cubicBezTo>
                  <a:pt x="54690" y="75239"/>
                  <a:pt x="59208" y="79865"/>
                  <a:pt x="63978" y="84133"/>
                </a:cubicBezTo>
                <a:cubicBezTo>
                  <a:pt x="73840" y="73231"/>
                  <a:pt x="81622" y="60428"/>
                  <a:pt x="86751" y="46334"/>
                </a:cubicBezTo>
                <a:lnTo>
                  <a:pt x="86930" y="45904"/>
                </a:lnTo>
                <a:lnTo>
                  <a:pt x="11512" y="45904"/>
                </a:lnTo>
                <a:cubicBezTo>
                  <a:pt x="5128" y="45904"/>
                  <a:pt x="0" y="40775"/>
                  <a:pt x="0" y="34428"/>
                </a:cubicBezTo>
                <a:cubicBezTo>
                  <a:pt x="0" y="28080"/>
                  <a:pt x="5128" y="22952"/>
                  <a:pt x="11476" y="22952"/>
                </a:cubicBezTo>
                <a:lnTo>
                  <a:pt x="45904" y="22952"/>
                </a:lnTo>
                <a:lnTo>
                  <a:pt x="45904" y="11476"/>
                </a:lnTo>
                <a:cubicBezTo>
                  <a:pt x="45904" y="5128"/>
                  <a:pt x="51032" y="0"/>
                  <a:pt x="57380" y="0"/>
                </a:cubicBezTo>
                <a:close/>
                <a:moveTo>
                  <a:pt x="149187" y="97115"/>
                </a:moveTo>
                <a:lnTo>
                  <a:pt x="131148" y="137711"/>
                </a:lnTo>
                <a:lnTo>
                  <a:pt x="167225" y="137711"/>
                </a:lnTo>
                <a:lnTo>
                  <a:pt x="149187" y="97115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7" name="Text 5"/>
          <p:cNvSpPr/>
          <p:nvPr/>
        </p:nvSpPr>
        <p:spPr>
          <a:xfrm>
            <a:off x="918072" y="1395470"/>
            <a:ext cx="2827663" cy="293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35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Dual-Translation Approach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71819" y="1914181"/>
            <a:ext cx="5609422" cy="1386289"/>
          </a:xfrm>
          <a:custGeom>
            <a:avLst/>
            <a:gdLst/>
            <a:ahLst/>
            <a:cxnLst/>
            <a:rect l="l" t="t" r="r" b="b"/>
            <a:pathLst>
              <a:path w="5609422" h="1386289">
                <a:moveTo>
                  <a:pt x="73446" y="0"/>
                </a:moveTo>
                <a:lnTo>
                  <a:pt x="5535976" y="0"/>
                </a:lnTo>
                <a:cubicBezTo>
                  <a:pt x="5576539" y="0"/>
                  <a:pt x="5609422" y="32883"/>
                  <a:pt x="5609422" y="73446"/>
                </a:cubicBezTo>
                <a:lnTo>
                  <a:pt x="5609422" y="1312844"/>
                </a:lnTo>
                <a:cubicBezTo>
                  <a:pt x="5609422" y="1353406"/>
                  <a:pt x="5576539" y="1386289"/>
                  <a:pt x="5535976" y="1386289"/>
                </a:cubicBezTo>
                <a:lnTo>
                  <a:pt x="73446" y="1386289"/>
                </a:lnTo>
                <a:cubicBezTo>
                  <a:pt x="32910" y="1386289"/>
                  <a:pt x="0" y="1353379"/>
                  <a:pt x="0" y="1312844"/>
                </a:cubicBezTo>
                <a:lnTo>
                  <a:pt x="0" y="73446"/>
                </a:lnTo>
                <a:cubicBezTo>
                  <a:pt x="0" y="32910"/>
                  <a:pt x="32910" y="0"/>
                  <a:pt x="73446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 w="12700">
            <a:solidFill>
              <a:srgbClr val="4A6D8C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0024" y="2102386"/>
            <a:ext cx="367229" cy="367229"/>
          </a:xfrm>
          <a:custGeom>
            <a:avLst/>
            <a:gdLst/>
            <a:ahLst/>
            <a:cxnLst/>
            <a:rect l="l" t="t" r="r" b="b"/>
            <a:pathLst>
              <a:path w="367229" h="367229">
                <a:moveTo>
                  <a:pt x="183614" y="0"/>
                </a:moveTo>
                <a:lnTo>
                  <a:pt x="183614" y="0"/>
                </a:lnTo>
                <a:cubicBezTo>
                  <a:pt x="284954" y="0"/>
                  <a:pt x="367229" y="82275"/>
                  <a:pt x="367229" y="183614"/>
                </a:cubicBezTo>
                <a:lnTo>
                  <a:pt x="367229" y="183614"/>
                </a:lnTo>
                <a:cubicBezTo>
                  <a:pt x="367229" y="284954"/>
                  <a:pt x="284954" y="367229"/>
                  <a:pt x="183614" y="367229"/>
                </a:cubicBezTo>
                <a:lnTo>
                  <a:pt x="183614" y="367229"/>
                </a:lnTo>
                <a:cubicBezTo>
                  <a:pt x="82275" y="367229"/>
                  <a:pt x="0" y="284954"/>
                  <a:pt x="0" y="183614"/>
                </a:cubicBezTo>
                <a:lnTo>
                  <a:pt x="0" y="183614"/>
                </a:lnTo>
                <a:cubicBezTo>
                  <a:pt x="0" y="82275"/>
                  <a:pt x="82275" y="0"/>
                  <a:pt x="183614" y="0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10" name="Text 8"/>
          <p:cNvSpPr/>
          <p:nvPr/>
        </p:nvSpPr>
        <p:spPr>
          <a:xfrm>
            <a:off x="523301" y="2102386"/>
            <a:ext cx="440675" cy="367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7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37422" y="2157470"/>
            <a:ext cx="2322723" cy="257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6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DeepL Primary Translation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60024" y="2579783"/>
            <a:ext cx="5306458" cy="238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7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Handles primary translation with high accuracy for technical content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78386" y="2956193"/>
            <a:ext cx="128530" cy="128530"/>
          </a:xfrm>
          <a:custGeom>
            <a:avLst/>
            <a:gdLst/>
            <a:ahLst/>
            <a:cxnLst/>
            <a:rect l="l" t="t" r="r" b="b"/>
            <a:pathLst>
              <a:path w="128530" h="128530">
                <a:moveTo>
                  <a:pt x="64265" y="128530"/>
                </a:moveTo>
                <a:cubicBezTo>
                  <a:pt x="99734" y="128530"/>
                  <a:pt x="128530" y="99734"/>
                  <a:pt x="128530" y="64265"/>
                </a:cubicBezTo>
                <a:cubicBezTo>
                  <a:pt x="128530" y="28796"/>
                  <a:pt x="99734" y="0"/>
                  <a:pt x="64265" y="0"/>
                </a:cubicBezTo>
                <a:cubicBezTo>
                  <a:pt x="28796" y="0"/>
                  <a:pt x="0" y="28796"/>
                  <a:pt x="0" y="64265"/>
                </a:cubicBezTo>
                <a:cubicBezTo>
                  <a:pt x="0" y="99734"/>
                  <a:pt x="28796" y="128530"/>
                  <a:pt x="64265" y="128530"/>
                </a:cubicBezTo>
                <a:close/>
                <a:moveTo>
                  <a:pt x="85452" y="53395"/>
                </a:moveTo>
                <a:lnTo>
                  <a:pt x="65370" y="85528"/>
                </a:lnTo>
                <a:cubicBezTo>
                  <a:pt x="64315" y="87210"/>
                  <a:pt x="62508" y="88264"/>
                  <a:pt x="60525" y="88364"/>
                </a:cubicBezTo>
                <a:cubicBezTo>
                  <a:pt x="58541" y="88465"/>
                  <a:pt x="56634" y="87561"/>
                  <a:pt x="55454" y="85955"/>
                </a:cubicBezTo>
                <a:lnTo>
                  <a:pt x="43404" y="69888"/>
                </a:lnTo>
                <a:cubicBezTo>
                  <a:pt x="41396" y="67227"/>
                  <a:pt x="41948" y="63462"/>
                  <a:pt x="44609" y="61453"/>
                </a:cubicBezTo>
                <a:cubicBezTo>
                  <a:pt x="47270" y="59445"/>
                  <a:pt x="51035" y="59997"/>
                  <a:pt x="53044" y="62658"/>
                </a:cubicBezTo>
                <a:lnTo>
                  <a:pt x="59822" y="71696"/>
                </a:lnTo>
                <a:lnTo>
                  <a:pt x="75235" y="47019"/>
                </a:lnTo>
                <a:cubicBezTo>
                  <a:pt x="76993" y="44207"/>
                  <a:pt x="80708" y="43329"/>
                  <a:pt x="83545" y="45111"/>
                </a:cubicBezTo>
                <a:cubicBezTo>
                  <a:pt x="86381" y="46893"/>
                  <a:pt x="87235" y="50584"/>
                  <a:pt x="85452" y="53420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14" name="Text 12"/>
          <p:cNvSpPr/>
          <p:nvPr/>
        </p:nvSpPr>
        <p:spPr>
          <a:xfrm>
            <a:off x="794133" y="2928651"/>
            <a:ext cx="1973855" cy="183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2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Free tier: </a:t>
            </a:r>
            <a:pPr>
              <a:lnSpc>
                <a:spcPct val="120000"/>
              </a:lnSpc>
            </a:pPr>
            <a:r>
              <a:rPr lang="en-US" sz="1012" b="1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500K characters/month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71819" y="3456542"/>
            <a:ext cx="5609422" cy="1386289"/>
          </a:xfrm>
          <a:custGeom>
            <a:avLst/>
            <a:gdLst/>
            <a:ahLst/>
            <a:cxnLst/>
            <a:rect l="l" t="t" r="r" b="b"/>
            <a:pathLst>
              <a:path w="5609422" h="1386289">
                <a:moveTo>
                  <a:pt x="73446" y="0"/>
                </a:moveTo>
                <a:lnTo>
                  <a:pt x="5535976" y="0"/>
                </a:lnTo>
                <a:cubicBezTo>
                  <a:pt x="5576539" y="0"/>
                  <a:pt x="5609422" y="32883"/>
                  <a:pt x="5609422" y="73446"/>
                </a:cubicBezTo>
                <a:lnTo>
                  <a:pt x="5609422" y="1312844"/>
                </a:lnTo>
                <a:cubicBezTo>
                  <a:pt x="5609422" y="1353406"/>
                  <a:pt x="5576539" y="1386289"/>
                  <a:pt x="5535976" y="1386289"/>
                </a:cubicBezTo>
                <a:lnTo>
                  <a:pt x="73446" y="1386289"/>
                </a:lnTo>
                <a:cubicBezTo>
                  <a:pt x="32910" y="1386289"/>
                  <a:pt x="0" y="1353379"/>
                  <a:pt x="0" y="1312844"/>
                </a:cubicBezTo>
                <a:lnTo>
                  <a:pt x="0" y="73446"/>
                </a:lnTo>
                <a:cubicBezTo>
                  <a:pt x="0" y="32910"/>
                  <a:pt x="32910" y="0"/>
                  <a:pt x="73446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 w="12700">
            <a:solidFill>
              <a:srgbClr val="4A6D8C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0024" y="3644747"/>
            <a:ext cx="367229" cy="367229"/>
          </a:xfrm>
          <a:custGeom>
            <a:avLst/>
            <a:gdLst/>
            <a:ahLst/>
            <a:cxnLst/>
            <a:rect l="l" t="t" r="r" b="b"/>
            <a:pathLst>
              <a:path w="367229" h="367229">
                <a:moveTo>
                  <a:pt x="183614" y="0"/>
                </a:moveTo>
                <a:lnTo>
                  <a:pt x="183614" y="0"/>
                </a:lnTo>
                <a:cubicBezTo>
                  <a:pt x="284954" y="0"/>
                  <a:pt x="367229" y="82275"/>
                  <a:pt x="367229" y="183614"/>
                </a:cubicBezTo>
                <a:lnTo>
                  <a:pt x="367229" y="183614"/>
                </a:lnTo>
                <a:cubicBezTo>
                  <a:pt x="367229" y="284954"/>
                  <a:pt x="284954" y="367229"/>
                  <a:pt x="183614" y="367229"/>
                </a:cubicBezTo>
                <a:lnTo>
                  <a:pt x="183614" y="367229"/>
                </a:lnTo>
                <a:cubicBezTo>
                  <a:pt x="82275" y="367229"/>
                  <a:pt x="0" y="284954"/>
                  <a:pt x="0" y="183614"/>
                </a:cubicBezTo>
                <a:lnTo>
                  <a:pt x="0" y="183614"/>
                </a:lnTo>
                <a:cubicBezTo>
                  <a:pt x="0" y="82275"/>
                  <a:pt x="82275" y="0"/>
                  <a:pt x="183614" y="0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17" name="Text 15"/>
          <p:cNvSpPr/>
          <p:nvPr/>
        </p:nvSpPr>
        <p:spPr>
          <a:xfrm>
            <a:off x="523301" y="3644747"/>
            <a:ext cx="440675" cy="367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7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37422" y="3699831"/>
            <a:ext cx="1771880" cy="257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6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Gemini Review Pass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60024" y="4122145"/>
            <a:ext cx="5306458" cy="238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7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Reviews for fluency, technical terminology accuracy, and contextual coherence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78386" y="4498554"/>
            <a:ext cx="128530" cy="128530"/>
          </a:xfrm>
          <a:custGeom>
            <a:avLst/>
            <a:gdLst/>
            <a:ahLst/>
            <a:cxnLst/>
            <a:rect l="l" t="t" r="r" b="b"/>
            <a:pathLst>
              <a:path w="128530" h="128530">
                <a:moveTo>
                  <a:pt x="64265" y="0"/>
                </a:moveTo>
                <a:cubicBezTo>
                  <a:pt x="99734" y="0"/>
                  <a:pt x="128530" y="28796"/>
                  <a:pt x="128530" y="64265"/>
                </a:cubicBezTo>
                <a:cubicBezTo>
                  <a:pt x="128530" y="99734"/>
                  <a:pt x="99734" y="128530"/>
                  <a:pt x="64265" y="128530"/>
                </a:cubicBezTo>
                <a:cubicBezTo>
                  <a:pt x="28796" y="128530"/>
                  <a:pt x="0" y="99734"/>
                  <a:pt x="0" y="64265"/>
                </a:cubicBezTo>
                <a:cubicBezTo>
                  <a:pt x="0" y="28796"/>
                  <a:pt x="28796" y="0"/>
                  <a:pt x="64265" y="0"/>
                </a:cubicBezTo>
                <a:close/>
                <a:moveTo>
                  <a:pt x="58240" y="30124"/>
                </a:moveTo>
                <a:lnTo>
                  <a:pt x="58240" y="64265"/>
                </a:lnTo>
                <a:cubicBezTo>
                  <a:pt x="58240" y="66273"/>
                  <a:pt x="59244" y="68156"/>
                  <a:pt x="60926" y="69286"/>
                </a:cubicBezTo>
                <a:lnTo>
                  <a:pt x="85026" y="85352"/>
                </a:lnTo>
                <a:cubicBezTo>
                  <a:pt x="87787" y="87210"/>
                  <a:pt x="91528" y="86457"/>
                  <a:pt x="93385" y="83670"/>
                </a:cubicBezTo>
                <a:cubicBezTo>
                  <a:pt x="95243" y="80884"/>
                  <a:pt x="94490" y="77168"/>
                  <a:pt x="91703" y="75311"/>
                </a:cubicBezTo>
                <a:lnTo>
                  <a:pt x="70290" y="61052"/>
                </a:lnTo>
                <a:lnTo>
                  <a:pt x="70290" y="30124"/>
                </a:lnTo>
                <a:cubicBezTo>
                  <a:pt x="70290" y="26785"/>
                  <a:pt x="67604" y="24099"/>
                  <a:pt x="64265" y="24099"/>
                </a:cubicBezTo>
                <a:cubicBezTo>
                  <a:pt x="60926" y="24099"/>
                  <a:pt x="58240" y="26785"/>
                  <a:pt x="58240" y="30124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21" name="Text 19"/>
          <p:cNvSpPr/>
          <p:nvPr/>
        </p:nvSpPr>
        <p:spPr>
          <a:xfrm>
            <a:off x="794133" y="4471012"/>
            <a:ext cx="2194193" cy="183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2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Status: </a:t>
            </a:r>
            <a:pPr>
              <a:lnSpc>
                <a:spcPct val="120000"/>
              </a:lnSpc>
            </a:pPr>
            <a:r>
              <a:rPr lang="en-US" sz="1012" b="1" dirty="0">
                <a:solidFill>
                  <a:srgbClr val="F0B1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Planned (API cost constraints)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06169" y="1322024"/>
            <a:ext cx="440675" cy="440675"/>
          </a:xfrm>
          <a:custGeom>
            <a:avLst/>
            <a:gdLst/>
            <a:ahLst/>
            <a:cxnLst/>
            <a:rect l="l" t="t" r="r" b="b"/>
            <a:pathLst>
              <a:path w="440675" h="440675">
                <a:moveTo>
                  <a:pt x="73447" y="0"/>
                </a:moveTo>
                <a:lnTo>
                  <a:pt x="367227" y="0"/>
                </a:lnTo>
                <a:cubicBezTo>
                  <a:pt x="407764" y="0"/>
                  <a:pt x="440675" y="32911"/>
                  <a:pt x="440675" y="73447"/>
                </a:cubicBezTo>
                <a:lnTo>
                  <a:pt x="440675" y="367227"/>
                </a:lnTo>
                <a:cubicBezTo>
                  <a:pt x="440675" y="407791"/>
                  <a:pt x="407791" y="440675"/>
                  <a:pt x="367227" y="440675"/>
                </a:cubicBezTo>
                <a:lnTo>
                  <a:pt x="73447" y="440675"/>
                </a:lnTo>
                <a:cubicBezTo>
                  <a:pt x="32911" y="440675"/>
                  <a:pt x="0" y="407764"/>
                  <a:pt x="0" y="367227"/>
                </a:cubicBezTo>
                <a:lnTo>
                  <a:pt x="0" y="73447"/>
                </a:lnTo>
                <a:cubicBezTo>
                  <a:pt x="0" y="32883"/>
                  <a:pt x="32883" y="0"/>
                  <a:pt x="73447" y="0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23" name="Shape 21"/>
          <p:cNvSpPr/>
          <p:nvPr/>
        </p:nvSpPr>
        <p:spPr>
          <a:xfrm>
            <a:off x="6323223" y="1450554"/>
            <a:ext cx="206566" cy="183614"/>
          </a:xfrm>
          <a:custGeom>
            <a:avLst/>
            <a:gdLst/>
            <a:ahLst/>
            <a:cxnLst/>
            <a:rect l="l" t="t" r="r" b="b"/>
            <a:pathLst>
              <a:path w="206566" h="183614">
                <a:moveTo>
                  <a:pt x="129391" y="430"/>
                </a:moveTo>
                <a:cubicBezTo>
                  <a:pt x="123294" y="-1327"/>
                  <a:pt x="116947" y="2223"/>
                  <a:pt x="115189" y="8320"/>
                </a:cubicBezTo>
                <a:lnTo>
                  <a:pt x="69286" y="168983"/>
                </a:lnTo>
                <a:cubicBezTo>
                  <a:pt x="67529" y="175079"/>
                  <a:pt x="71079" y="181427"/>
                  <a:pt x="77175" y="183184"/>
                </a:cubicBezTo>
                <a:cubicBezTo>
                  <a:pt x="83272" y="184941"/>
                  <a:pt x="89620" y="181391"/>
                  <a:pt x="91377" y="175294"/>
                </a:cubicBezTo>
                <a:lnTo>
                  <a:pt x="137280" y="14632"/>
                </a:lnTo>
                <a:cubicBezTo>
                  <a:pt x="139038" y="8535"/>
                  <a:pt x="135487" y="2188"/>
                  <a:pt x="129391" y="430"/>
                </a:cubicBezTo>
                <a:close/>
                <a:moveTo>
                  <a:pt x="152558" y="49239"/>
                </a:moveTo>
                <a:cubicBezTo>
                  <a:pt x="148075" y="53722"/>
                  <a:pt x="148075" y="61002"/>
                  <a:pt x="152558" y="65484"/>
                </a:cubicBezTo>
                <a:lnTo>
                  <a:pt x="178881" y="91807"/>
                </a:lnTo>
                <a:lnTo>
                  <a:pt x="152558" y="118130"/>
                </a:lnTo>
                <a:cubicBezTo>
                  <a:pt x="148075" y="122613"/>
                  <a:pt x="148075" y="129893"/>
                  <a:pt x="152558" y="134376"/>
                </a:cubicBezTo>
                <a:cubicBezTo>
                  <a:pt x="157041" y="138858"/>
                  <a:pt x="164321" y="138858"/>
                  <a:pt x="168803" y="134376"/>
                </a:cubicBezTo>
                <a:lnTo>
                  <a:pt x="203231" y="99948"/>
                </a:lnTo>
                <a:cubicBezTo>
                  <a:pt x="207714" y="95465"/>
                  <a:pt x="207714" y="88185"/>
                  <a:pt x="203231" y="83702"/>
                </a:cubicBezTo>
                <a:lnTo>
                  <a:pt x="168803" y="49275"/>
                </a:lnTo>
                <a:cubicBezTo>
                  <a:pt x="164321" y="44792"/>
                  <a:pt x="157041" y="44792"/>
                  <a:pt x="152558" y="49275"/>
                </a:cubicBezTo>
                <a:close/>
                <a:moveTo>
                  <a:pt x="54044" y="49239"/>
                </a:moveTo>
                <a:cubicBezTo>
                  <a:pt x="49562" y="44756"/>
                  <a:pt x="42282" y="44756"/>
                  <a:pt x="37799" y="49239"/>
                </a:cubicBezTo>
                <a:lnTo>
                  <a:pt x="3371" y="83667"/>
                </a:lnTo>
                <a:cubicBezTo>
                  <a:pt x="-1112" y="88149"/>
                  <a:pt x="-1112" y="95429"/>
                  <a:pt x="3371" y="99912"/>
                </a:cubicBezTo>
                <a:lnTo>
                  <a:pt x="37799" y="134340"/>
                </a:lnTo>
                <a:cubicBezTo>
                  <a:pt x="42282" y="138823"/>
                  <a:pt x="49562" y="138823"/>
                  <a:pt x="54044" y="134340"/>
                </a:cubicBezTo>
                <a:cubicBezTo>
                  <a:pt x="58527" y="129857"/>
                  <a:pt x="58527" y="122577"/>
                  <a:pt x="54044" y="118094"/>
                </a:cubicBezTo>
                <a:lnTo>
                  <a:pt x="27721" y="91807"/>
                </a:lnTo>
                <a:lnTo>
                  <a:pt x="54008" y="65484"/>
                </a:lnTo>
                <a:cubicBezTo>
                  <a:pt x="58491" y="61002"/>
                  <a:pt x="58491" y="53722"/>
                  <a:pt x="54008" y="49239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4" name="Text 22"/>
          <p:cNvSpPr/>
          <p:nvPr/>
        </p:nvSpPr>
        <p:spPr>
          <a:xfrm>
            <a:off x="6757012" y="1395470"/>
            <a:ext cx="2947012" cy="293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35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Technical Glossary Injection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224530" y="1909590"/>
            <a:ext cx="5600241" cy="2947012"/>
          </a:xfrm>
          <a:custGeom>
            <a:avLst/>
            <a:gdLst/>
            <a:ahLst/>
            <a:cxnLst/>
            <a:rect l="l" t="t" r="r" b="b"/>
            <a:pathLst>
              <a:path w="5600241" h="2947012">
                <a:moveTo>
                  <a:pt x="0" y="0"/>
                </a:moveTo>
                <a:lnTo>
                  <a:pt x="5526801" y="0"/>
                </a:lnTo>
                <a:cubicBezTo>
                  <a:pt x="5567361" y="0"/>
                  <a:pt x="5600241" y="32880"/>
                  <a:pt x="5600241" y="73440"/>
                </a:cubicBezTo>
                <a:lnTo>
                  <a:pt x="5600241" y="2873573"/>
                </a:lnTo>
                <a:cubicBezTo>
                  <a:pt x="5600241" y="2914132"/>
                  <a:pt x="5567361" y="2947012"/>
                  <a:pt x="5526801" y="2947012"/>
                </a:cubicBezTo>
                <a:lnTo>
                  <a:pt x="0" y="2947012"/>
                </a:lnTo>
                <a:lnTo>
                  <a:pt x="0" y="0"/>
                </a:lnTo>
                <a:close/>
              </a:path>
            </a:pathLst>
          </a:custGeom>
          <a:solidFill>
            <a:srgbClr val="4A6D8C">
              <a:alpha val="10196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224530" y="1909590"/>
            <a:ext cx="36723" cy="2947012"/>
          </a:xfrm>
          <a:custGeom>
            <a:avLst/>
            <a:gdLst/>
            <a:ahLst/>
            <a:cxnLst/>
            <a:rect l="l" t="t" r="r" b="b"/>
            <a:pathLst>
              <a:path w="36723" h="2947012">
                <a:moveTo>
                  <a:pt x="0" y="0"/>
                </a:moveTo>
                <a:lnTo>
                  <a:pt x="36723" y="0"/>
                </a:lnTo>
                <a:lnTo>
                  <a:pt x="36723" y="2947012"/>
                </a:lnTo>
                <a:lnTo>
                  <a:pt x="0" y="2947012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27" name="Text 25"/>
          <p:cNvSpPr/>
          <p:nvPr/>
        </p:nvSpPr>
        <p:spPr>
          <a:xfrm>
            <a:off x="6426506" y="2093205"/>
            <a:ext cx="5297277" cy="257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1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GitHub-Specific Terminology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26506" y="2460434"/>
            <a:ext cx="5288096" cy="477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7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 glossary ensures accurate translation of technical terms, preventing contextual errors in developer tutorials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426506" y="3084723"/>
            <a:ext cx="5214651" cy="1588265"/>
          </a:xfrm>
          <a:custGeom>
            <a:avLst/>
            <a:gdLst/>
            <a:ahLst/>
            <a:cxnLst/>
            <a:rect l="l" t="t" r="r" b="b"/>
            <a:pathLst>
              <a:path w="5214651" h="1588265">
                <a:moveTo>
                  <a:pt x="73441" y="0"/>
                </a:moveTo>
                <a:lnTo>
                  <a:pt x="5141209" y="0"/>
                </a:lnTo>
                <a:cubicBezTo>
                  <a:pt x="5181770" y="0"/>
                  <a:pt x="5214651" y="32881"/>
                  <a:pt x="5214651" y="73441"/>
                </a:cubicBezTo>
                <a:lnTo>
                  <a:pt x="5214651" y="1514824"/>
                </a:lnTo>
                <a:cubicBezTo>
                  <a:pt x="5214651" y="1555384"/>
                  <a:pt x="5181770" y="1588265"/>
                  <a:pt x="5141209" y="1588265"/>
                </a:cubicBezTo>
                <a:lnTo>
                  <a:pt x="73441" y="1588265"/>
                </a:lnTo>
                <a:cubicBezTo>
                  <a:pt x="32881" y="1588265"/>
                  <a:pt x="0" y="1555384"/>
                  <a:pt x="0" y="1514824"/>
                </a:cubicBezTo>
                <a:lnTo>
                  <a:pt x="0" y="73441"/>
                </a:lnTo>
                <a:cubicBezTo>
                  <a:pt x="0" y="32908"/>
                  <a:pt x="32908" y="0"/>
                  <a:pt x="7344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6573398" y="3231614"/>
            <a:ext cx="945614" cy="2203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7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Chinese Term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283022" y="3231614"/>
            <a:ext cx="1285301" cy="2203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7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Correct Translation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573398" y="3525398"/>
            <a:ext cx="4920867" cy="9181"/>
          </a:xfrm>
          <a:custGeom>
            <a:avLst/>
            <a:gdLst/>
            <a:ahLst/>
            <a:cxnLst/>
            <a:rect l="l" t="t" r="r" b="b"/>
            <a:pathLst>
              <a:path w="4920867" h="9181">
                <a:moveTo>
                  <a:pt x="0" y="0"/>
                </a:moveTo>
                <a:lnTo>
                  <a:pt x="4920867" y="0"/>
                </a:lnTo>
                <a:lnTo>
                  <a:pt x="4920867" y="9181"/>
                </a:lnTo>
                <a:lnTo>
                  <a:pt x="0" y="9181"/>
                </a:lnTo>
                <a:lnTo>
                  <a:pt x="0" y="0"/>
                </a:ln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6573398" y="3608024"/>
            <a:ext cx="413133" cy="257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1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提交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841189" y="3663108"/>
            <a:ext cx="146892" cy="146892"/>
          </a:xfrm>
          <a:custGeom>
            <a:avLst/>
            <a:gdLst/>
            <a:ahLst/>
            <a:cxnLst/>
            <a:rect l="l" t="t" r="r" b="b"/>
            <a:pathLst>
              <a:path w="146892" h="146892">
                <a:moveTo>
                  <a:pt x="144195" y="79930"/>
                </a:moveTo>
                <a:cubicBezTo>
                  <a:pt x="147781" y="76343"/>
                  <a:pt x="147781" y="70519"/>
                  <a:pt x="144195" y="66933"/>
                </a:cubicBezTo>
                <a:lnTo>
                  <a:pt x="98291" y="21030"/>
                </a:lnTo>
                <a:cubicBezTo>
                  <a:pt x="94705" y="17443"/>
                  <a:pt x="88881" y="17443"/>
                  <a:pt x="85295" y="21030"/>
                </a:cubicBezTo>
                <a:cubicBezTo>
                  <a:pt x="81708" y="24616"/>
                  <a:pt x="81708" y="30440"/>
                  <a:pt x="85295" y="34026"/>
                </a:cubicBezTo>
                <a:lnTo>
                  <a:pt x="115534" y="64265"/>
                </a:lnTo>
                <a:lnTo>
                  <a:pt x="9181" y="64265"/>
                </a:lnTo>
                <a:cubicBezTo>
                  <a:pt x="4103" y="64265"/>
                  <a:pt x="0" y="68368"/>
                  <a:pt x="0" y="73446"/>
                </a:cubicBezTo>
                <a:cubicBezTo>
                  <a:pt x="0" y="78524"/>
                  <a:pt x="4103" y="82627"/>
                  <a:pt x="9181" y="82627"/>
                </a:cubicBezTo>
                <a:lnTo>
                  <a:pt x="115534" y="82627"/>
                </a:lnTo>
                <a:lnTo>
                  <a:pt x="85295" y="112866"/>
                </a:lnTo>
                <a:cubicBezTo>
                  <a:pt x="81708" y="116452"/>
                  <a:pt x="81708" y="122276"/>
                  <a:pt x="85295" y="125862"/>
                </a:cubicBezTo>
                <a:cubicBezTo>
                  <a:pt x="88881" y="129448"/>
                  <a:pt x="94705" y="129448"/>
                  <a:pt x="98291" y="125862"/>
                </a:cubicBezTo>
                <a:lnTo>
                  <a:pt x="144195" y="79958"/>
                </a:ln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35" name="Text 33"/>
          <p:cNvSpPr/>
          <p:nvPr/>
        </p:nvSpPr>
        <p:spPr>
          <a:xfrm>
            <a:off x="10925366" y="3608024"/>
            <a:ext cx="651831" cy="257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1" b="1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commit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573398" y="3938530"/>
            <a:ext cx="413133" cy="257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1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分支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865824" y="3993614"/>
            <a:ext cx="146892" cy="146892"/>
          </a:xfrm>
          <a:custGeom>
            <a:avLst/>
            <a:gdLst/>
            <a:ahLst/>
            <a:cxnLst/>
            <a:rect l="l" t="t" r="r" b="b"/>
            <a:pathLst>
              <a:path w="146892" h="146892">
                <a:moveTo>
                  <a:pt x="144195" y="79930"/>
                </a:moveTo>
                <a:cubicBezTo>
                  <a:pt x="147781" y="76343"/>
                  <a:pt x="147781" y="70519"/>
                  <a:pt x="144195" y="66933"/>
                </a:cubicBezTo>
                <a:lnTo>
                  <a:pt x="98291" y="21030"/>
                </a:lnTo>
                <a:cubicBezTo>
                  <a:pt x="94705" y="17443"/>
                  <a:pt x="88881" y="17443"/>
                  <a:pt x="85295" y="21030"/>
                </a:cubicBezTo>
                <a:cubicBezTo>
                  <a:pt x="81708" y="24616"/>
                  <a:pt x="81708" y="30440"/>
                  <a:pt x="85295" y="34026"/>
                </a:cubicBezTo>
                <a:lnTo>
                  <a:pt x="115534" y="64265"/>
                </a:lnTo>
                <a:lnTo>
                  <a:pt x="9181" y="64265"/>
                </a:lnTo>
                <a:cubicBezTo>
                  <a:pt x="4103" y="64265"/>
                  <a:pt x="0" y="68368"/>
                  <a:pt x="0" y="73446"/>
                </a:cubicBezTo>
                <a:cubicBezTo>
                  <a:pt x="0" y="78524"/>
                  <a:pt x="4103" y="82627"/>
                  <a:pt x="9181" y="82627"/>
                </a:cubicBezTo>
                <a:lnTo>
                  <a:pt x="115534" y="82627"/>
                </a:lnTo>
                <a:lnTo>
                  <a:pt x="85295" y="112866"/>
                </a:lnTo>
                <a:cubicBezTo>
                  <a:pt x="81708" y="116452"/>
                  <a:pt x="81708" y="122276"/>
                  <a:pt x="85295" y="125862"/>
                </a:cubicBezTo>
                <a:cubicBezTo>
                  <a:pt x="88881" y="129448"/>
                  <a:pt x="94705" y="129448"/>
                  <a:pt x="98291" y="125862"/>
                </a:cubicBezTo>
                <a:lnTo>
                  <a:pt x="144195" y="79958"/>
                </a:ln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38" name="Text 36"/>
          <p:cNvSpPr/>
          <p:nvPr/>
        </p:nvSpPr>
        <p:spPr>
          <a:xfrm>
            <a:off x="10974789" y="3938530"/>
            <a:ext cx="605928" cy="257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1" b="1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branch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573398" y="4269036"/>
            <a:ext cx="413133" cy="257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1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合并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889082" y="4324120"/>
            <a:ext cx="146892" cy="146892"/>
          </a:xfrm>
          <a:custGeom>
            <a:avLst/>
            <a:gdLst/>
            <a:ahLst/>
            <a:cxnLst/>
            <a:rect l="l" t="t" r="r" b="b"/>
            <a:pathLst>
              <a:path w="146892" h="146892">
                <a:moveTo>
                  <a:pt x="144195" y="79930"/>
                </a:moveTo>
                <a:cubicBezTo>
                  <a:pt x="147781" y="76343"/>
                  <a:pt x="147781" y="70519"/>
                  <a:pt x="144195" y="66933"/>
                </a:cubicBezTo>
                <a:lnTo>
                  <a:pt x="98291" y="21030"/>
                </a:lnTo>
                <a:cubicBezTo>
                  <a:pt x="94705" y="17443"/>
                  <a:pt x="88881" y="17443"/>
                  <a:pt x="85295" y="21030"/>
                </a:cubicBezTo>
                <a:cubicBezTo>
                  <a:pt x="81708" y="24616"/>
                  <a:pt x="81708" y="30440"/>
                  <a:pt x="85295" y="34026"/>
                </a:cubicBezTo>
                <a:lnTo>
                  <a:pt x="115534" y="64265"/>
                </a:lnTo>
                <a:lnTo>
                  <a:pt x="9181" y="64265"/>
                </a:lnTo>
                <a:cubicBezTo>
                  <a:pt x="4103" y="64265"/>
                  <a:pt x="0" y="68368"/>
                  <a:pt x="0" y="73446"/>
                </a:cubicBezTo>
                <a:cubicBezTo>
                  <a:pt x="0" y="78524"/>
                  <a:pt x="4103" y="82627"/>
                  <a:pt x="9181" y="82627"/>
                </a:cubicBezTo>
                <a:lnTo>
                  <a:pt x="115534" y="82627"/>
                </a:lnTo>
                <a:lnTo>
                  <a:pt x="85295" y="112866"/>
                </a:lnTo>
                <a:cubicBezTo>
                  <a:pt x="81708" y="116452"/>
                  <a:pt x="81708" y="122276"/>
                  <a:pt x="85295" y="125862"/>
                </a:cubicBezTo>
                <a:cubicBezTo>
                  <a:pt x="88881" y="129448"/>
                  <a:pt x="94705" y="129448"/>
                  <a:pt x="98291" y="125862"/>
                </a:cubicBezTo>
                <a:lnTo>
                  <a:pt x="144195" y="79958"/>
                </a:ln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41" name="Text 39"/>
          <p:cNvSpPr/>
          <p:nvPr/>
        </p:nvSpPr>
        <p:spPr>
          <a:xfrm>
            <a:off x="11021305" y="4269036"/>
            <a:ext cx="560024" cy="257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1" b="1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merge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2988325" y="5215601"/>
            <a:ext cx="5609422" cy="1037422"/>
          </a:xfrm>
          <a:custGeom>
            <a:avLst/>
            <a:gdLst/>
            <a:ahLst/>
            <a:cxnLst/>
            <a:rect l="l" t="t" r="r" b="b"/>
            <a:pathLst>
              <a:path w="5609422" h="1037422">
                <a:moveTo>
                  <a:pt x="73449" y="0"/>
                </a:moveTo>
                <a:lnTo>
                  <a:pt x="5535972" y="0"/>
                </a:lnTo>
                <a:cubicBezTo>
                  <a:pt x="5576537" y="0"/>
                  <a:pt x="5609422" y="32884"/>
                  <a:pt x="5609422" y="73449"/>
                </a:cubicBezTo>
                <a:lnTo>
                  <a:pt x="5609422" y="963972"/>
                </a:lnTo>
                <a:cubicBezTo>
                  <a:pt x="5609422" y="1004537"/>
                  <a:pt x="5576537" y="1037422"/>
                  <a:pt x="5535972" y="1037422"/>
                </a:cubicBezTo>
                <a:lnTo>
                  <a:pt x="73449" y="1037422"/>
                </a:lnTo>
                <a:cubicBezTo>
                  <a:pt x="32884" y="1037422"/>
                  <a:pt x="0" y="1004537"/>
                  <a:pt x="0" y="963972"/>
                </a:cubicBezTo>
                <a:lnTo>
                  <a:pt x="0" y="73449"/>
                </a:lnTo>
                <a:cubicBezTo>
                  <a:pt x="0" y="32912"/>
                  <a:pt x="32912" y="0"/>
                  <a:pt x="73449" y="0"/>
                </a:cubicBezTo>
                <a:close/>
              </a:path>
            </a:pathLst>
          </a:custGeom>
          <a:solidFill>
            <a:srgbClr val="C8A97E">
              <a:alpha val="10196"/>
            </a:srgbClr>
          </a:solidFill>
          <a:ln w="12700">
            <a:solidFill>
              <a:srgbClr val="C8A97E">
                <a:alpha val="30196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139807" y="5367083"/>
            <a:ext cx="5379904" cy="2203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7" b="1" dirty="0">
                <a:solidFill>
                  <a:srgbClr val="C8A9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Fallback Strategy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3139807" y="5660866"/>
            <a:ext cx="5379904" cy="440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7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 no Gemini API key available, system falls back to </a:t>
            </a:r>
            <a:pPr>
              <a:lnSpc>
                <a:spcPct val="130000"/>
              </a:lnSpc>
            </a:pPr>
            <a:r>
              <a:rPr lang="en-US" sz="1157" b="1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DeepL-only translation</a:t>
            </a:r>
            <a:pPr>
              <a:lnSpc>
                <a:spcPct val="130000"/>
              </a:lnSpc>
            </a:pPr>
            <a:r>
              <a:rPr lang="en-US" sz="1157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glossary injection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Pipeline Stage 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TTS Synthesis: Two Backend Options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1000" y="1371600"/>
          <a:ext cx="11430000" cy="2847975"/>
        </p:xfrm>
        <a:graphic>
          <a:graphicData uri="http://schemas.openxmlformats.org/drawingml/2006/table">
            <a:tbl>
              <a:tblPr/>
              <a:tblGrid>
                <a:gridCol w="2724150"/>
                <a:gridCol w="3486150"/>
                <a:gridCol w="5219700"/>
              </a:tblGrid>
              <a:tr h="504066">
                <a:tc>
                  <a:txBody>
                    <a:bodyPr/>
                    <a:lstStyle/>
                    <a:p>
                      <a:pPr algn="l"/>
                      <a:r>
                        <a:rPr lang="en-US" sz="1300" b="1" u="none" dirty="0">
                          <a:solidFill>
                            <a:srgbClr val="C8A97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Feature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C8A9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u="none" dirty="0">
                          <a:solidFill>
                            <a:srgbClr val="C8A97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Voxtral (Mistral API)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C8A9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u="none" dirty="0">
                          <a:solidFill>
                            <a:srgbClr val="C8A97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F5-TTS (RunPod GPU)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C8A9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78863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788A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Speed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Fast (API call)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Slower (GPU job)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66261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788A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Cost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$0.016 / 1K chars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RunPod GPU time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66261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788A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Voice Cloning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Via ref_audio parameter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Flow-matching architecture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66261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788A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Cross-lingual Quality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Good for European languages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Excellent — decouples timbre from phonemes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66261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788A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Best For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Speed, European languages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Chinese, English, tonal languages, high fidelity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85763" y="4386263"/>
            <a:ext cx="5591175" cy="2085975"/>
          </a:xfrm>
          <a:custGeom>
            <a:avLst/>
            <a:gdLst/>
            <a:ahLst/>
            <a:cxnLst/>
            <a:rect l="l" t="t" r="r" b="b"/>
            <a:pathLst>
              <a:path w="5591175" h="2085975">
                <a:moveTo>
                  <a:pt x="76201" y="0"/>
                </a:moveTo>
                <a:lnTo>
                  <a:pt x="5514974" y="0"/>
                </a:lnTo>
                <a:cubicBezTo>
                  <a:pt x="5557059" y="0"/>
                  <a:pt x="5591175" y="34116"/>
                  <a:pt x="5591175" y="76201"/>
                </a:cubicBezTo>
                <a:lnTo>
                  <a:pt x="5591175" y="2009774"/>
                </a:lnTo>
                <a:cubicBezTo>
                  <a:pt x="5591175" y="2051859"/>
                  <a:pt x="5557059" y="2085975"/>
                  <a:pt x="5514974" y="2085975"/>
                </a:cubicBezTo>
                <a:lnTo>
                  <a:pt x="76201" y="2085975"/>
                </a:lnTo>
                <a:cubicBezTo>
                  <a:pt x="34116" y="2085975"/>
                  <a:pt x="0" y="2051859"/>
                  <a:pt x="0" y="2009774"/>
                </a:cubicBezTo>
                <a:lnTo>
                  <a:pt x="0" y="76201"/>
                </a:lnTo>
                <a:cubicBezTo>
                  <a:pt x="0" y="34116"/>
                  <a:pt x="34116" y="0"/>
                  <a:pt x="76201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 w="12700">
            <a:solidFill>
              <a:srgbClr val="4A6D8C">
                <a:alpha val="4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16744" y="461962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26057" y="-3683"/>
                </a:moveTo>
                <a:cubicBezTo>
                  <a:pt x="130485" y="-484"/>
                  <a:pt x="132122" y="5321"/>
                  <a:pt x="130113" y="10381"/>
                </a:cubicBezTo>
                <a:lnTo>
                  <a:pt x="100943" y="83344"/>
                </a:lnTo>
                <a:lnTo>
                  <a:pt x="154781" y="83344"/>
                </a:lnTo>
                <a:cubicBezTo>
                  <a:pt x="159804" y="83344"/>
                  <a:pt x="164269" y="86469"/>
                  <a:pt x="165981" y="91194"/>
                </a:cubicBezTo>
                <a:cubicBezTo>
                  <a:pt x="167692" y="95920"/>
                  <a:pt x="166241" y="101203"/>
                  <a:pt x="162409" y="104403"/>
                </a:cubicBezTo>
                <a:lnTo>
                  <a:pt x="55252" y="193700"/>
                </a:lnTo>
                <a:cubicBezTo>
                  <a:pt x="51048" y="197197"/>
                  <a:pt x="45058" y="197383"/>
                  <a:pt x="40630" y="194183"/>
                </a:cubicBezTo>
                <a:cubicBezTo>
                  <a:pt x="36202" y="190984"/>
                  <a:pt x="34565" y="185179"/>
                  <a:pt x="36575" y="180119"/>
                </a:cubicBezTo>
                <a:lnTo>
                  <a:pt x="65745" y="107156"/>
                </a:lnTo>
                <a:lnTo>
                  <a:pt x="11906" y="107156"/>
                </a:lnTo>
                <a:cubicBezTo>
                  <a:pt x="6883" y="107156"/>
                  <a:pt x="2418" y="104031"/>
                  <a:pt x="707" y="99306"/>
                </a:cubicBezTo>
                <a:cubicBezTo>
                  <a:pt x="-1005" y="94580"/>
                  <a:pt x="446" y="89297"/>
                  <a:pt x="4279" y="86097"/>
                </a:cubicBezTo>
                <a:lnTo>
                  <a:pt x="111435" y="-3200"/>
                </a:lnTo>
                <a:cubicBezTo>
                  <a:pt x="115639" y="-6697"/>
                  <a:pt x="121630" y="-6883"/>
                  <a:pt x="126057" y="-3683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8" name="Text 5"/>
          <p:cNvSpPr/>
          <p:nvPr/>
        </p:nvSpPr>
        <p:spPr>
          <a:xfrm>
            <a:off x="819150" y="4581525"/>
            <a:ext cx="5057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Voxtral Advantages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09600" y="500062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10" name="Text 7"/>
          <p:cNvSpPr/>
          <p:nvPr/>
        </p:nvSpPr>
        <p:spPr>
          <a:xfrm>
            <a:off x="847725" y="4962525"/>
            <a:ext cx="2819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Simple API integration with minimal setup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09600" y="530542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12" name="Text 9"/>
          <p:cNvSpPr/>
          <p:nvPr/>
        </p:nvSpPr>
        <p:spPr>
          <a:xfrm>
            <a:off x="847725" y="5267325"/>
            <a:ext cx="2257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Predictable per-character pricing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09600" y="561022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14" name="Text 11"/>
          <p:cNvSpPr/>
          <p:nvPr/>
        </p:nvSpPr>
        <p:spPr>
          <a:xfrm>
            <a:off x="847725" y="5572125"/>
            <a:ext cx="3076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 response times for real-time applications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215063" y="4386263"/>
            <a:ext cx="5591175" cy="2085975"/>
          </a:xfrm>
          <a:custGeom>
            <a:avLst/>
            <a:gdLst/>
            <a:ahLst/>
            <a:cxnLst/>
            <a:rect l="l" t="t" r="r" b="b"/>
            <a:pathLst>
              <a:path w="5591175" h="2085975">
                <a:moveTo>
                  <a:pt x="76201" y="0"/>
                </a:moveTo>
                <a:lnTo>
                  <a:pt x="5514974" y="0"/>
                </a:lnTo>
                <a:cubicBezTo>
                  <a:pt x="5557059" y="0"/>
                  <a:pt x="5591175" y="34116"/>
                  <a:pt x="5591175" y="76201"/>
                </a:cubicBezTo>
                <a:lnTo>
                  <a:pt x="5591175" y="2009774"/>
                </a:lnTo>
                <a:cubicBezTo>
                  <a:pt x="5591175" y="2051859"/>
                  <a:pt x="5557059" y="2085975"/>
                  <a:pt x="5514974" y="2085975"/>
                </a:cubicBezTo>
                <a:lnTo>
                  <a:pt x="76201" y="2085975"/>
                </a:lnTo>
                <a:cubicBezTo>
                  <a:pt x="34116" y="2085975"/>
                  <a:pt x="0" y="2051859"/>
                  <a:pt x="0" y="2009774"/>
                </a:cubicBezTo>
                <a:lnTo>
                  <a:pt x="0" y="76201"/>
                </a:lnTo>
                <a:cubicBezTo>
                  <a:pt x="0" y="34116"/>
                  <a:pt x="34116" y="0"/>
                  <a:pt x="76201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 w="12700">
            <a:solidFill>
              <a:srgbClr val="4A6D8C">
                <a:alpha val="40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422231" y="461962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15156" y="-7032"/>
                </a:moveTo>
                <a:cubicBezTo>
                  <a:pt x="113630" y="-10009"/>
                  <a:pt x="110542" y="-11906"/>
                  <a:pt x="107193" y="-11906"/>
                </a:cubicBezTo>
                <a:cubicBezTo>
                  <a:pt x="103845" y="-11906"/>
                  <a:pt x="100757" y="-10009"/>
                  <a:pt x="99231" y="-7032"/>
                </a:cubicBezTo>
                <a:lnTo>
                  <a:pt x="71847" y="46620"/>
                </a:lnTo>
                <a:lnTo>
                  <a:pt x="12353" y="56071"/>
                </a:lnTo>
                <a:cubicBezTo>
                  <a:pt x="9041" y="56592"/>
                  <a:pt x="6288" y="58936"/>
                  <a:pt x="5246" y="62136"/>
                </a:cubicBezTo>
                <a:cubicBezTo>
                  <a:pt x="4204" y="65336"/>
                  <a:pt x="5060" y="68833"/>
                  <a:pt x="7404" y="71214"/>
                </a:cubicBezTo>
                <a:lnTo>
                  <a:pt x="49969" y="113816"/>
                </a:lnTo>
                <a:lnTo>
                  <a:pt x="40593" y="173310"/>
                </a:lnTo>
                <a:cubicBezTo>
                  <a:pt x="40072" y="176622"/>
                  <a:pt x="41449" y="179970"/>
                  <a:pt x="44165" y="181942"/>
                </a:cubicBezTo>
                <a:cubicBezTo>
                  <a:pt x="46881" y="183914"/>
                  <a:pt x="50453" y="184212"/>
                  <a:pt x="53467" y="182687"/>
                </a:cubicBezTo>
                <a:lnTo>
                  <a:pt x="107193" y="155377"/>
                </a:lnTo>
                <a:lnTo>
                  <a:pt x="160883" y="182687"/>
                </a:lnTo>
                <a:cubicBezTo>
                  <a:pt x="163860" y="184212"/>
                  <a:pt x="167469" y="183914"/>
                  <a:pt x="170185" y="181942"/>
                </a:cubicBezTo>
                <a:cubicBezTo>
                  <a:pt x="172901" y="179970"/>
                  <a:pt x="174278" y="176659"/>
                  <a:pt x="173757" y="173310"/>
                </a:cubicBezTo>
                <a:lnTo>
                  <a:pt x="164343" y="113816"/>
                </a:lnTo>
                <a:lnTo>
                  <a:pt x="206908" y="71214"/>
                </a:lnTo>
                <a:cubicBezTo>
                  <a:pt x="209290" y="68833"/>
                  <a:pt x="210108" y="65336"/>
                  <a:pt x="209066" y="62136"/>
                </a:cubicBezTo>
                <a:cubicBezTo>
                  <a:pt x="208025" y="58936"/>
                  <a:pt x="205308" y="56592"/>
                  <a:pt x="201960" y="56071"/>
                </a:cubicBezTo>
                <a:lnTo>
                  <a:pt x="142503" y="46620"/>
                </a:lnTo>
                <a:lnTo>
                  <a:pt x="115156" y="-7032"/>
                </a:ln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17" name="Text 14"/>
          <p:cNvSpPr/>
          <p:nvPr/>
        </p:nvSpPr>
        <p:spPr>
          <a:xfrm>
            <a:off x="6648450" y="4581525"/>
            <a:ext cx="5057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F5-TTS Technical Advantage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410325" y="4962525"/>
            <a:ext cx="52768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Uses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flow-matching generative model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learns to map from noise → speech, conditioned on text phonemes and speaker embedding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415088" y="5576888"/>
            <a:ext cx="5191125" cy="695325"/>
          </a:xfrm>
          <a:custGeom>
            <a:avLst/>
            <a:gdLst/>
            <a:ahLst/>
            <a:cxnLst/>
            <a:rect l="l" t="t" r="r" b="b"/>
            <a:pathLst>
              <a:path w="5191125" h="695325">
                <a:moveTo>
                  <a:pt x="76201" y="0"/>
                </a:moveTo>
                <a:lnTo>
                  <a:pt x="5114924" y="0"/>
                </a:lnTo>
                <a:cubicBezTo>
                  <a:pt x="5157009" y="0"/>
                  <a:pt x="5191125" y="34116"/>
                  <a:pt x="5191125" y="76201"/>
                </a:cubicBezTo>
                <a:lnTo>
                  <a:pt x="5191125" y="619124"/>
                </a:lnTo>
                <a:cubicBezTo>
                  <a:pt x="5191125" y="661209"/>
                  <a:pt x="5157009" y="695325"/>
                  <a:pt x="5114924" y="695325"/>
                </a:cubicBezTo>
                <a:lnTo>
                  <a:pt x="76201" y="695325"/>
                </a:lnTo>
                <a:cubicBezTo>
                  <a:pt x="34116" y="695325"/>
                  <a:pt x="0" y="661209"/>
                  <a:pt x="0" y="619124"/>
                </a:cubicBezTo>
                <a:lnTo>
                  <a:pt x="0" y="76201"/>
                </a:lnTo>
                <a:cubicBezTo>
                  <a:pt x="0" y="34116"/>
                  <a:pt x="34116" y="0"/>
                  <a:pt x="76201" y="0"/>
                </a:cubicBezTo>
                <a:close/>
              </a:path>
            </a:pathLst>
          </a:custGeom>
          <a:solidFill>
            <a:srgbClr val="C8A97E">
              <a:alpha val="10196"/>
            </a:srgbClr>
          </a:solidFill>
          <a:ln w="12700">
            <a:solidFill>
              <a:srgbClr val="C8A97E">
                <a:alpha val="30196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534150" y="569595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Innovation: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Speaker identity and language are decoupled → clean English output even from Chinese reference audio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1608" y="351608"/>
            <a:ext cx="11559106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b="1" spc="55" kern="0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Pipeline Stage 5-6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1608" y="632894"/>
            <a:ext cx="11647008" cy="351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92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Audio Alignment 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51608" y="1089984"/>
            <a:ext cx="843859" cy="35161"/>
          </a:xfrm>
          <a:custGeom>
            <a:avLst/>
            <a:gdLst/>
            <a:ahLst/>
            <a:cxnLst/>
            <a:rect l="l" t="t" r="r" b="b"/>
            <a:pathLst>
              <a:path w="843859" h="35161">
                <a:moveTo>
                  <a:pt x="0" y="0"/>
                </a:moveTo>
                <a:lnTo>
                  <a:pt x="843859" y="0"/>
                </a:lnTo>
                <a:lnTo>
                  <a:pt x="843859" y="35161"/>
                </a:lnTo>
                <a:lnTo>
                  <a:pt x="0" y="35161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5" name="Shape 3"/>
          <p:cNvSpPr/>
          <p:nvPr/>
        </p:nvSpPr>
        <p:spPr>
          <a:xfrm>
            <a:off x="1635953" y="1562740"/>
            <a:ext cx="9302425" cy="1054823"/>
          </a:xfrm>
          <a:custGeom>
            <a:avLst/>
            <a:gdLst/>
            <a:ahLst/>
            <a:cxnLst/>
            <a:rect l="l" t="t" r="r" b="b"/>
            <a:pathLst>
              <a:path w="9302425" h="1054823">
                <a:moveTo>
                  <a:pt x="0" y="0"/>
                </a:moveTo>
                <a:lnTo>
                  <a:pt x="9185956" y="0"/>
                </a:lnTo>
                <a:cubicBezTo>
                  <a:pt x="9250280" y="0"/>
                  <a:pt x="9302425" y="31486"/>
                  <a:pt x="9302425" y="70325"/>
                </a:cubicBezTo>
                <a:lnTo>
                  <a:pt x="9302425" y="984498"/>
                </a:lnTo>
                <a:cubicBezTo>
                  <a:pt x="9302425" y="1023338"/>
                  <a:pt x="9250280" y="1054823"/>
                  <a:pt x="9185956" y="1054823"/>
                </a:cubicBezTo>
                <a:lnTo>
                  <a:pt x="0" y="1054823"/>
                </a:lnTo>
                <a:lnTo>
                  <a:pt x="0" y="0"/>
                </a:lnTo>
                <a:close/>
              </a:path>
            </a:pathLst>
          </a:custGeom>
          <a:solidFill>
            <a:srgbClr val="4A6D8C">
              <a:alpha val="10196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635953" y="1562740"/>
            <a:ext cx="35161" cy="1054823"/>
          </a:xfrm>
          <a:custGeom>
            <a:avLst/>
            <a:gdLst/>
            <a:ahLst/>
            <a:cxnLst/>
            <a:rect l="l" t="t" r="r" b="b"/>
            <a:pathLst>
              <a:path w="35161" h="1054823">
                <a:moveTo>
                  <a:pt x="0" y="0"/>
                </a:moveTo>
                <a:lnTo>
                  <a:pt x="35161" y="0"/>
                </a:lnTo>
                <a:lnTo>
                  <a:pt x="35161" y="1054823"/>
                </a:lnTo>
                <a:lnTo>
                  <a:pt x="0" y="1054823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7" name="Text 5"/>
          <p:cNvSpPr/>
          <p:nvPr/>
        </p:nvSpPr>
        <p:spPr>
          <a:xfrm>
            <a:off x="1794176" y="1703383"/>
            <a:ext cx="5397180" cy="246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Objective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794176" y="2019830"/>
            <a:ext cx="8907866" cy="457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Fit synthesized English speech into original segment timestamps while maintaining natural speech quality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35953" y="3015861"/>
            <a:ext cx="9302425" cy="826278"/>
          </a:xfrm>
          <a:custGeom>
            <a:avLst/>
            <a:gdLst/>
            <a:ahLst/>
            <a:cxnLst/>
            <a:rect l="l" t="t" r="r" b="b"/>
            <a:pathLst>
              <a:path w="9302425" h="826278">
                <a:moveTo>
                  <a:pt x="0" y="0"/>
                </a:moveTo>
                <a:lnTo>
                  <a:pt x="9185957" y="0"/>
                </a:lnTo>
                <a:cubicBezTo>
                  <a:pt x="9250280" y="0"/>
                  <a:pt x="9302425" y="31485"/>
                  <a:pt x="9302425" y="70325"/>
                </a:cubicBezTo>
                <a:lnTo>
                  <a:pt x="9302425" y="755954"/>
                </a:lnTo>
                <a:cubicBezTo>
                  <a:pt x="9302425" y="794793"/>
                  <a:pt x="9250280" y="826278"/>
                  <a:pt x="9185957" y="826278"/>
                </a:cubicBezTo>
                <a:lnTo>
                  <a:pt x="0" y="826278"/>
                </a:lnTo>
                <a:lnTo>
                  <a:pt x="0" y="0"/>
                </a:lnTo>
                <a:close/>
              </a:path>
            </a:pathLst>
          </a:custGeom>
          <a:solidFill>
            <a:srgbClr val="4A6D8C">
              <a:alpha val="10196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635953" y="3015861"/>
            <a:ext cx="35161" cy="826278"/>
          </a:xfrm>
          <a:custGeom>
            <a:avLst/>
            <a:gdLst/>
            <a:ahLst/>
            <a:cxnLst/>
            <a:rect l="l" t="t" r="r" b="b"/>
            <a:pathLst>
              <a:path w="35161" h="826278">
                <a:moveTo>
                  <a:pt x="0" y="0"/>
                </a:moveTo>
                <a:lnTo>
                  <a:pt x="35161" y="0"/>
                </a:lnTo>
                <a:lnTo>
                  <a:pt x="35161" y="826278"/>
                </a:lnTo>
                <a:lnTo>
                  <a:pt x="0" y="826278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11" name="Text 9"/>
          <p:cNvSpPr/>
          <p:nvPr/>
        </p:nvSpPr>
        <p:spPr>
          <a:xfrm>
            <a:off x="1794176" y="3156504"/>
            <a:ext cx="5397180" cy="246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Time-Stretching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794176" y="3472951"/>
            <a:ext cx="8492834" cy="228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Uses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rubberband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library for high-quality time-stretching without pitch distortion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635953" y="4302257"/>
            <a:ext cx="9302425" cy="826278"/>
          </a:xfrm>
          <a:custGeom>
            <a:avLst/>
            <a:gdLst/>
            <a:ahLst/>
            <a:cxnLst/>
            <a:rect l="l" t="t" r="r" b="b"/>
            <a:pathLst>
              <a:path w="9302425" h="826278">
                <a:moveTo>
                  <a:pt x="0" y="0"/>
                </a:moveTo>
                <a:lnTo>
                  <a:pt x="9185957" y="0"/>
                </a:lnTo>
                <a:cubicBezTo>
                  <a:pt x="9250280" y="0"/>
                  <a:pt x="9302425" y="31485"/>
                  <a:pt x="9302425" y="70325"/>
                </a:cubicBezTo>
                <a:lnTo>
                  <a:pt x="9302425" y="755954"/>
                </a:lnTo>
                <a:cubicBezTo>
                  <a:pt x="9302425" y="794793"/>
                  <a:pt x="9250280" y="826278"/>
                  <a:pt x="9185957" y="826278"/>
                </a:cubicBezTo>
                <a:lnTo>
                  <a:pt x="0" y="826278"/>
                </a:lnTo>
                <a:lnTo>
                  <a:pt x="0" y="0"/>
                </a:lnTo>
                <a:close/>
              </a:path>
            </a:pathLst>
          </a:custGeom>
          <a:solidFill>
            <a:srgbClr val="4A6D8C">
              <a:alpha val="10196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635953" y="4302257"/>
            <a:ext cx="35161" cy="826278"/>
          </a:xfrm>
          <a:custGeom>
            <a:avLst/>
            <a:gdLst/>
            <a:ahLst/>
            <a:cxnLst/>
            <a:rect l="l" t="t" r="r" b="b"/>
            <a:pathLst>
              <a:path w="35161" h="826278">
                <a:moveTo>
                  <a:pt x="0" y="0"/>
                </a:moveTo>
                <a:lnTo>
                  <a:pt x="35161" y="0"/>
                </a:lnTo>
                <a:lnTo>
                  <a:pt x="35161" y="826278"/>
                </a:lnTo>
                <a:lnTo>
                  <a:pt x="0" y="826278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15" name="Text 13"/>
          <p:cNvSpPr/>
          <p:nvPr/>
        </p:nvSpPr>
        <p:spPr>
          <a:xfrm>
            <a:off x="1794176" y="4442900"/>
            <a:ext cx="5397180" cy="246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Speed Constraints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794176" y="4759347"/>
            <a:ext cx="8492834" cy="228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Speed factor clamped: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0.85× – 1.20×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(beyond this range, speech sounds unnatural)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635953" y="5537236"/>
            <a:ext cx="9315610" cy="993292"/>
          </a:xfrm>
          <a:custGeom>
            <a:avLst/>
            <a:gdLst/>
            <a:ahLst/>
            <a:cxnLst/>
            <a:rect l="l" t="t" r="r" b="b"/>
            <a:pathLst>
              <a:path w="9315610" h="993292">
                <a:moveTo>
                  <a:pt x="116451" y="0"/>
                </a:moveTo>
                <a:lnTo>
                  <a:pt x="9199159" y="0"/>
                </a:lnTo>
                <a:cubicBezTo>
                  <a:pt x="9263473" y="0"/>
                  <a:pt x="9315610" y="31486"/>
                  <a:pt x="9315610" y="70325"/>
                </a:cubicBezTo>
                <a:lnTo>
                  <a:pt x="9315610" y="922967"/>
                </a:lnTo>
                <a:cubicBezTo>
                  <a:pt x="9315610" y="961806"/>
                  <a:pt x="9263473" y="993292"/>
                  <a:pt x="9199159" y="993292"/>
                </a:cubicBezTo>
                <a:lnTo>
                  <a:pt x="116451" y="993292"/>
                </a:lnTo>
                <a:cubicBezTo>
                  <a:pt x="52137" y="993292"/>
                  <a:pt x="0" y="961806"/>
                  <a:pt x="0" y="922967"/>
                </a:cubicBezTo>
                <a:lnTo>
                  <a:pt x="0" y="70325"/>
                </a:lnTo>
                <a:cubicBezTo>
                  <a:pt x="0" y="31512"/>
                  <a:pt x="52180" y="0"/>
                  <a:pt x="116451" y="0"/>
                </a:cubicBezTo>
                <a:close/>
              </a:path>
            </a:pathLst>
          </a:custGeom>
          <a:solidFill>
            <a:srgbClr val="C8A97E">
              <a:alpha val="10196"/>
            </a:srgbClr>
          </a:solidFill>
          <a:ln w="12700">
            <a:solidFill>
              <a:srgbClr val="C8A97E">
                <a:alpha val="30196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780991" y="5682274"/>
            <a:ext cx="5405970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C8A9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Overflow Handling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780991" y="5963561"/>
            <a:ext cx="8693029" cy="421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Segments exceeding time window are slightly overlapped or gap-padded to maintain synchronization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9813" y="379813"/>
            <a:ext cx="11508336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b="1" spc="60" kern="0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Research Extension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9813" y="683664"/>
            <a:ext cx="11603290" cy="379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92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F5-TTS Darija Fine-tuning Attempt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9813" y="1177421"/>
            <a:ext cx="911551" cy="37981"/>
          </a:xfrm>
          <a:custGeom>
            <a:avLst/>
            <a:gdLst/>
            <a:ahLst/>
            <a:cxnLst/>
            <a:rect l="l" t="t" r="r" b="b"/>
            <a:pathLst>
              <a:path w="911551" h="37981">
                <a:moveTo>
                  <a:pt x="0" y="0"/>
                </a:moveTo>
                <a:lnTo>
                  <a:pt x="911551" y="0"/>
                </a:lnTo>
                <a:lnTo>
                  <a:pt x="911551" y="37981"/>
                </a:lnTo>
                <a:lnTo>
                  <a:pt x="0" y="37981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5" name="Shape 3"/>
          <p:cNvSpPr/>
          <p:nvPr/>
        </p:nvSpPr>
        <p:spPr>
          <a:xfrm>
            <a:off x="379813" y="1367327"/>
            <a:ext cx="455776" cy="455776"/>
          </a:xfrm>
          <a:custGeom>
            <a:avLst/>
            <a:gdLst/>
            <a:ahLst/>
            <a:cxnLst/>
            <a:rect l="l" t="t" r="r" b="b"/>
            <a:pathLst>
              <a:path w="455776" h="455776">
                <a:moveTo>
                  <a:pt x="75964" y="0"/>
                </a:moveTo>
                <a:lnTo>
                  <a:pt x="379812" y="0"/>
                </a:lnTo>
                <a:cubicBezTo>
                  <a:pt x="421737" y="0"/>
                  <a:pt x="455776" y="34038"/>
                  <a:pt x="455776" y="75964"/>
                </a:cubicBezTo>
                <a:lnTo>
                  <a:pt x="455776" y="379812"/>
                </a:lnTo>
                <a:cubicBezTo>
                  <a:pt x="455776" y="421765"/>
                  <a:pt x="421765" y="455776"/>
                  <a:pt x="379812" y="455776"/>
                </a:cubicBezTo>
                <a:lnTo>
                  <a:pt x="75964" y="455776"/>
                </a:lnTo>
                <a:cubicBezTo>
                  <a:pt x="34038" y="455776"/>
                  <a:pt x="0" y="421737"/>
                  <a:pt x="0" y="379812"/>
                </a:cubicBezTo>
                <a:lnTo>
                  <a:pt x="0" y="75964"/>
                </a:lnTo>
                <a:cubicBezTo>
                  <a:pt x="0" y="34038"/>
                  <a:pt x="34038" y="0"/>
                  <a:pt x="75964" y="0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6" name="Shape 4"/>
          <p:cNvSpPr/>
          <p:nvPr/>
        </p:nvSpPr>
        <p:spPr>
          <a:xfrm>
            <a:off x="512748" y="1500262"/>
            <a:ext cx="189907" cy="189907"/>
          </a:xfrm>
          <a:custGeom>
            <a:avLst/>
            <a:gdLst/>
            <a:ahLst/>
            <a:cxnLst/>
            <a:rect l="l" t="t" r="r" b="b"/>
            <a:pathLst>
              <a:path w="189907" h="189907">
                <a:moveTo>
                  <a:pt x="166168" y="94953"/>
                </a:moveTo>
                <a:cubicBezTo>
                  <a:pt x="166168" y="55649"/>
                  <a:pt x="134258" y="23738"/>
                  <a:pt x="94953" y="23738"/>
                </a:cubicBezTo>
                <a:cubicBezTo>
                  <a:pt x="55649" y="23738"/>
                  <a:pt x="23738" y="55649"/>
                  <a:pt x="23738" y="94953"/>
                </a:cubicBezTo>
                <a:cubicBezTo>
                  <a:pt x="23738" y="134258"/>
                  <a:pt x="55649" y="166168"/>
                  <a:pt x="94953" y="166168"/>
                </a:cubicBezTo>
                <a:cubicBezTo>
                  <a:pt x="134258" y="166168"/>
                  <a:pt x="166168" y="134258"/>
                  <a:pt x="166168" y="94953"/>
                </a:cubicBezTo>
                <a:close/>
                <a:moveTo>
                  <a:pt x="0" y="94953"/>
                </a:moveTo>
                <a:cubicBezTo>
                  <a:pt x="0" y="42547"/>
                  <a:pt x="42547" y="0"/>
                  <a:pt x="94953" y="0"/>
                </a:cubicBezTo>
                <a:cubicBezTo>
                  <a:pt x="147359" y="0"/>
                  <a:pt x="189907" y="42547"/>
                  <a:pt x="189907" y="94953"/>
                </a:cubicBezTo>
                <a:cubicBezTo>
                  <a:pt x="189907" y="147359"/>
                  <a:pt x="147359" y="189907"/>
                  <a:pt x="94953" y="189907"/>
                </a:cubicBezTo>
                <a:cubicBezTo>
                  <a:pt x="42547" y="189907"/>
                  <a:pt x="0" y="147359"/>
                  <a:pt x="0" y="94953"/>
                </a:cubicBezTo>
                <a:close/>
                <a:moveTo>
                  <a:pt x="94953" y="124626"/>
                </a:moveTo>
                <a:cubicBezTo>
                  <a:pt x="111330" y="124626"/>
                  <a:pt x="124626" y="111330"/>
                  <a:pt x="124626" y="94953"/>
                </a:cubicBezTo>
                <a:cubicBezTo>
                  <a:pt x="124626" y="78576"/>
                  <a:pt x="111330" y="65280"/>
                  <a:pt x="94953" y="65280"/>
                </a:cubicBezTo>
                <a:cubicBezTo>
                  <a:pt x="78576" y="65280"/>
                  <a:pt x="65280" y="78576"/>
                  <a:pt x="65280" y="94953"/>
                </a:cubicBezTo>
                <a:cubicBezTo>
                  <a:pt x="65280" y="111330"/>
                  <a:pt x="78576" y="124626"/>
                  <a:pt x="94953" y="124626"/>
                </a:cubicBezTo>
                <a:close/>
                <a:moveTo>
                  <a:pt x="94953" y="41542"/>
                </a:moveTo>
                <a:cubicBezTo>
                  <a:pt x="124432" y="41542"/>
                  <a:pt x="148364" y="65475"/>
                  <a:pt x="148364" y="94953"/>
                </a:cubicBezTo>
                <a:cubicBezTo>
                  <a:pt x="148364" y="124432"/>
                  <a:pt x="124432" y="148364"/>
                  <a:pt x="94953" y="148364"/>
                </a:cubicBezTo>
                <a:cubicBezTo>
                  <a:pt x="65475" y="148364"/>
                  <a:pt x="41542" y="124432"/>
                  <a:pt x="41542" y="94953"/>
                </a:cubicBezTo>
                <a:cubicBezTo>
                  <a:pt x="41542" y="65475"/>
                  <a:pt x="65475" y="41542"/>
                  <a:pt x="94953" y="41542"/>
                </a:cubicBezTo>
                <a:close/>
                <a:moveTo>
                  <a:pt x="83084" y="94953"/>
                </a:moveTo>
                <a:cubicBezTo>
                  <a:pt x="83084" y="88403"/>
                  <a:pt x="88403" y="83084"/>
                  <a:pt x="94953" y="83084"/>
                </a:cubicBezTo>
                <a:cubicBezTo>
                  <a:pt x="101504" y="83084"/>
                  <a:pt x="106822" y="88403"/>
                  <a:pt x="106822" y="94953"/>
                </a:cubicBezTo>
                <a:cubicBezTo>
                  <a:pt x="106822" y="101504"/>
                  <a:pt x="101504" y="106822"/>
                  <a:pt x="94953" y="106822"/>
                </a:cubicBezTo>
                <a:cubicBezTo>
                  <a:pt x="88403" y="106822"/>
                  <a:pt x="83084" y="101504"/>
                  <a:pt x="83084" y="94953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7" name="Text 5"/>
          <p:cNvSpPr/>
          <p:nvPr/>
        </p:nvSpPr>
        <p:spPr>
          <a:xfrm>
            <a:off x="949533" y="1443290"/>
            <a:ext cx="1234393" cy="30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94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Motivation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98804" y="1975028"/>
            <a:ext cx="5583252" cy="1139439"/>
          </a:xfrm>
          <a:custGeom>
            <a:avLst/>
            <a:gdLst/>
            <a:ahLst/>
            <a:cxnLst/>
            <a:rect l="l" t="t" r="r" b="b"/>
            <a:pathLst>
              <a:path w="5583252" h="1139439">
                <a:moveTo>
                  <a:pt x="0" y="0"/>
                </a:moveTo>
                <a:lnTo>
                  <a:pt x="5507286" y="0"/>
                </a:lnTo>
                <a:cubicBezTo>
                  <a:pt x="5549241" y="0"/>
                  <a:pt x="5583252" y="34011"/>
                  <a:pt x="5583252" y="75966"/>
                </a:cubicBezTo>
                <a:lnTo>
                  <a:pt x="5583252" y="1063473"/>
                </a:lnTo>
                <a:cubicBezTo>
                  <a:pt x="5583252" y="1105428"/>
                  <a:pt x="5549241" y="1139439"/>
                  <a:pt x="5507286" y="1139439"/>
                </a:cubicBezTo>
                <a:lnTo>
                  <a:pt x="0" y="1139439"/>
                </a:lnTo>
                <a:lnTo>
                  <a:pt x="0" y="0"/>
                </a:lnTo>
                <a:close/>
              </a:path>
            </a:pathLst>
          </a:custGeom>
          <a:solidFill>
            <a:srgbClr val="4A6D8C">
              <a:alpha val="10196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398804" y="1975028"/>
            <a:ext cx="37981" cy="1139439"/>
          </a:xfrm>
          <a:custGeom>
            <a:avLst/>
            <a:gdLst/>
            <a:ahLst/>
            <a:cxnLst/>
            <a:rect l="l" t="t" r="r" b="b"/>
            <a:pathLst>
              <a:path w="37981" h="1139439">
                <a:moveTo>
                  <a:pt x="0" y="0"/>
                </a:moveTo>
                <a:lnTo>
                  <a:pt x="37981" y="0"/>
                </a:lnTo>
                <a:lnTo>
                  <a:pt x="37981" y="1139439"/>
                </a:lnTo>
                <a:lnTo>
                  <a:pt x="0" y="1139439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10" name="Text 8"/>
          <p:cNvSpPr/>
          <p:nvPr/>
        </p:nvSpPr>
        <p:spPr>
          <a:xfrm>
            <a:off x="569720" y="2126953"/>
            <a:ext cx="5345869" cy="265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6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69720" y="2468785"/>
            <a:ext cx="5336374" cy="4937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6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Arabic reference audio caused </a:t>
            </a:r>
            <a:pPr>
              <a:lnSpc>
                <a:spcPct val="140000"/>
              </a:lnSpc>
            </a:pPr>
            <a:r>
              <a:rPr lang="en-US" sz="1196" b="1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phonetic leakage</a:t>
            </a:r>
            <a:pPr>
              <a:lnSpc>
                <a:spcPct val="140000"/>
              </a:lnSpc>
            </a:pPr>
            <a:r>
              <a:rPr lang="en-US" sz="1196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Voxtral — Arabic accent bleeding into English TTS output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98804" y="3228411"/>
            <a:ext cx="5583252" cy="1139439"/>
          </a:xfrm>
          <a:custGeom>
            <a:avLst/>
            <a:gdLst/>
            <a:ahLst/>
            <a:cxnLst/>
            <a:rect l="l" t="t" r="r" b="b"/>
            <a:pathLst>
              <a:path w="5583252" h="1139439">
                <a:moveTo>
                  <a:pt x="0" y="0"/>
                </a:moveTo>
                <a:lnTo>
                  <a:pt x="5507286" y="0"/>
                </a:lnTo>
                <a:cubicBezTo>
                  <a:pt x="5549241" y="0"/>
                  <a:pt x="5583252" y="34011"/>
                  <a:pt x="5583252" y="75966"/>
                </a:cubicBezTo>
                <a:lnTo>
                  <a:pt x="5583252" y="1063473"/>
                </a:lnTo>
                <a:cubicBezTo>
                  <a:pt x="5583252" y="1105428"/>
                  <a:pt x="5549241" y="1139439"/>
                  <a:pt x="5507286" y="1139439"/>
                </a:cubicBezTo>
                <a:lnTo>
                  <a:pt x="0" y="1139439"/>
                </a:lnTo>
                <a:lnTo>
                  <a:pt x="0" y="0"/>
                </a:lnTo>
                <a:close/>
              </a:path>
            </a:pathLst>
          </a:custGeom>
          <a:solidFill>
            <a:srgbClr val="4A6D8C">
              <a:alpha val="10196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398804" y="3228411"/>
            <a:ext cx="37981" cy="1139439"/>
          </a:xfrm>
          <a:custGeom>
            <a:avLst/>
            <a:gdLst/>
            <a:ahLst/>
            <a:cxnLst/>
            <a:rect l="l" t="t" r="r" b="b"/>
            <a:pathLst>
              <a:path w="37981" h="1139439">
                <a:moveTo>
                  <a:pt x="0" y="0"/>
                </a:moveTo>
                <a:lnTo>
                  <a:pt x="37981" y="0"/>
                </a:lnTo>
                <a:lnTo>
                  <a:pt x="37981" y="1139439"/>
                </a:lnTo>
                <a:lnTo>
                  <a:pt x="0" y="1139439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14" name="Text 12"/>
          <p:cNvSpPr/>
          <p:nvPr/>
        </p:nvSpPr>
        <p:spPr>
          <a:xfrm>
            <a:off x="569720" y="3380336"/>
            <a:ext cx="5345869" cy="265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6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Solution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69720" y="3722168"/>
            <a:ext cx="5336374" cy="4937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6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Fine-tune F5-TTS on Moroccan Arabic (Darija) dataset to improve cross-lingual voice cloning quality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98804" y="4481794"/>
            <a:ext cx="5583252" cy="1139439"/>
          </a:xfrm>
          <a:custGeom>
            <a:avLst/>
            <a:gdLst/>
            <a:ahLst/>
            <a:cxnLst/>
            <a:rect l="l" t="t" r="r" b="b"/>
            <a:pathLst>
              <a:path w="5583252" h="1139439">
                <a:moveTo>
                  <a:pt x="0" y="0"/>
                </a:moveTo>
                <a:lnTo>
                  <a:pt x="5507286" y="0"/>
                </a:lnTo>
                <a:cubicBezTo>
                  <a:pt x="5549241" y="0"/>
                  <a:pt x="5583252" y="34011"/>
                  <a:pt x="5583252" y="75966"/>
                </a:cubicBezTo>
                <a:lnTo>
                  <a:pt x="5583252" y="1063473"/>
                </a:lnTo>
                <a:cubicBezTo>
                  <a:pt x="5583252" y="1105428"/>
                  <a:pt x="5549241" y="1139439"/>
                  <a:pt x="5507286" y="1139439"/>
                </a:cubicBezTo>
                <a:lnTo>
                  <a:pt x="0" y="1139439"/>
                </a:lnTo>
                <a:lnTo>
                  <a:pt x="0" y="0"/>
                </a:lnTo>
                <a:close/>
              </a:path>
            </a:pathLst>
          </a:custGeom>
          <a:solidFill>
            <a:srgbClr val="4A6D8C">
              <a:alpha val="10196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98804" y="4481794"/>
            <a:ext cx="37981" cy="1139439"/>
          </a:xfrm>
          <a:custGeom>
            <a:avLst/>
            <a:gdLst/>
            <a:ahLst/>
            <a:cxnLst/>
            <a:rect l="l" t="t" r="r" b="b"/>
            <a:pathLst>
              <a:path w="37981" h="1139439">
                <a:moveTo>
                  <a:pt x="0" y="0"/>
                </a:moveTo>
                <a:lnTo>
                  <a:pt x="37981" y="0"/>
                </a:lnTo>
                <a:lnTo>
                  <a:pt x="37981" y="1139439"/>
                </a:lnTo>
                <a:lnTo>
                  <a:pt x="0" y="1139439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18" name="Text 16"/>
          <p:cNvSpPr/>
          <p:nvPr/>
        </p:nvSpPr>
        <p:spPr>
          <a:xfrm>
            <a:off x="569720" y="4633720"/>
            <a:ext cx="5345869" cy="265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6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Dataset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69720" y="4975551"/>
            <a:ext cx="5336374" cy="4937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6" b="1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KandirResearch/DarijaTTS-clean</a:t>
            </a:r>
            <a:pPr>
              <a:lnSpc>
                <a:spcPct val="140000"/>
              </a:lnSpc>
            </a:pPr>
            <a:r>
              <a:rPr lang="en-US" sz="1196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21,032 samples of Moroccan Arabic speech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07887" y="1367327"/>
            <a:ext cx="455776" cy="455776"/>
          </a:xfrm>
          <a:custGeom>
            <a:avLst/>
            <a:gdLst/>
            <a:ahLst/>
            <a:cxnLst/>
            <a:rect l="l" t="t" r="r" b="b"/>
            <a:pathLst>
              <a:path w="455776" h="455776">
                <a:moveTo>
                  <a:pt x="75964" y="0"/>
                </a:moveTo>
                <a:lnTo>
                  <a:pt x="379812" y="0"/>
                </a:lnTo>
                <a:cubicBezTo>
                  <a:pt x="421737" y="0"/>
                  <a:pt x="455776" y="34038"/>
                  <a:pt x="455776" y="75964"/>
                </a:cubicBezTo>
                <a:lnTo>
                  <a:pt x="455776" y="379812"/>
                </a:lnTo>
                <a:cubicBezTo>
                  <a:pt x="455776" y="421765"/>
                  <a:pt x="421765" y="455776"/>
                  <a:pt x="379812" y="455776"/>
                </a:cubicBezTo>
                <a:lnTo>
                  <a:pt x="75964" y="455776"/>
                </a:lnTo>
                <a:cubicBezTo>
                  <a:pt x="34038" y="455776"/>
                  <a:pt x="0" y="421737"/>
                  <a:pt x="0" y="379812"/>
                </a:cubicBezTo>
                <a:lnTo>
                  <a:pt x="0" y="75964"/>
                </a:lnTo>
                <a:cubicBezTo>
                  <a:pt x="0" y="34038"/>
                  <a:pt x="34038" y="0"/>
                  <a:pt x="75964" y="0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21" name="Shape 19"/>
          <p:cNvSpPr/>
          <p:nvPr/>
        </p:nvSpPr>
        <p:spPr>
          <a:xfrm>
            <a:off x="6352690" y="1500262"/>
            <a:ext cx="166168" cy="189907"/>
          </a:xfrm>
          <a:custGeom>
            <a:avLst/>
            <a:gdLst/>
            <a:ahLst/>
            <a:cxnLst/>
            <a:rect l="l" t="t" r="r" b="b"/>
            <a:pathLst>
              <a:path w="166168" h="189907">
                <a:moveTo>
                  <a:pt x="106822" y="0"/>
                </a:moveTo>
                <a:lnTo>
                  <a:pt x="47477" y="0"/>
                </a:lnTo>
                <a:cubicBezTo>
                  <a:pt x="40912" y="0"/>
                  <a:pt x="35607" y="5304"/>
                  <a:pt x="35607" y="11869"/>
                </a:cubicBezTo>
                <a:cubicBezTo>
                  <a:pt x="35607" y="18434"/>
                  <a:pt x="40912" y="23738"/>
                  <a:pt x="47477" y="23738"/>
                </a:cubicBezTo>
                <a:lnTo>
                  <a:pt x="47477" y="79931"/>
                </a:lnTo>
                <a:lnTo>
                  <a:pt x="2782" y="158119"/>
                </a:lnTo>
                <a:cubicBezTo>
                  <a:pt x="964" y="161346"/>
                  <a:pt x="0" y="164944"/>
                  <a:pt x="0" y="168653"/>
                </a:cubicBezTo>
                <a:cubicBezTo>
                  <a:pt x="0" y="180411"/>
                  <a:pt x="9495" y="189907"/>
                  <a:pt x="21253" y="189907"/>
                </a:cubicBezTo>
                <a:lnTo>
                  <a:pt x="144915" y="189907"/>
                </a:lnTo>
                <a:cubicBezTo>
                  <a:pt x="156636" y="189907"/>
                  <a:pt x="166168" y="180411"/>
                  <a:pt x="166168" y="168653"/>
                </a:cubicBezTo>
                <a:cubicBezTo>
                  <a:pt x="166168" y="164944"/>
                  <a:pt x="165204" y="161309"/>
                  <a:pt x="163386" y="158119"/>
                </a:cubicBezTo>
                <a:lnTo>
                  <a:pt x="118692" y="79931"/>
                </a:lnTo>
                <a:lnTo>
                  <a:pt x="118692" y="23738"/>
                </a:lnTo>
                <a:cubicBezTo>
                  <a:pt x="125257" y="23738"/>
                  <a:pt x="130561" y="18434"/>
                  <a:pt x="130561" y="11869"/>
                </a:cubicBezTo>
                <a:cubicBezTo>
                  <a:pt x="130561" y="5304"/>
                  <a:pt x="125257" y="0"/>
                  <a:pt x="118692" y="0"/>
                </a:cubicBezTo>
                <a:lnTo>
                  <a:pt x="106822" y="0"/>
                </a:lnTo>
                <a:close/>
                <a:moveTo>
                  <a:pt x="71215" y="79931"/>
                </a:moveTo>
                <a:lnTo>
                  <a:pt x="71215" y="23738"/>
                </a:lnTo>
                <a:lnTo>
                  <a:pt x="94953" y="23738"/>
                </a:lnTo>
                <a:lnTo>
                  <a:pt x="94953" y="79931"/>
                </a:lnTo>
                <a:cubicBezTo>
                  <a:pt x="94953" y="84048"/>
                  <a:pt x="96029" y="88129"/>
                  <a:pt x="98069" y="91726"/>
                </a:cubicBezTo>
                <a:lnTo>
                  <a:pt x="113499" y="118692"/>
                </a:lnTo>
                <a:lnTo>
                  <a:pt x="52669" y="118692"/>
                </a:lnTo>
                <a:lnTo>
                  <a:pt x="68099" y="91726"/>
                </a:lnTo>
                <a:cubicBezTo>
                  <a:pt x="70139" y="88129"/>
                  <a:pt x="71215" y="84086"/>
                  <a:pt x="71215" y="79931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2" name="Text 20"/>
          <p:cNvSpPr/>
          <p:nvPr/>
        </p:nvSpPr>
        <p:spPr>
          <a:xfrm>
            <a:off x="6777606" y="1443290"/>
            <a:ext cx="2345346" cy="30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94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Technical Challenges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12634" y="1979776"/>
            <a:ext cx="5592748" cy="864075"/>
          </a:xfrm>
          <a:custGeom>
            <a:avLst/>
            <a:gdLst/>
            <a:ahLst/>
            <a:cxnLst/>
            <a:rect l="l" t="t" r="r" b="b"/>
            <a:pathLst>
              <a:path w="5592748" h="864075">
                <a:moveTo>
                  <a:pt x="75961" y="0"/>
                </a:moveTo>
                <a:lnTo>
                  <a:pt x="5516787" y="0"/>
                </a:lnTo>
                <a:cubicBezTo>
                  <a:pt x="5558739" y="0"/>
                  <a:pt x="5592748" y="34009"/>
                  <a:pt x="5592748" y="75961"/>
                </a:cubicBezTo>
                <a:lnTo>
                  <a:pt x="5592748" y="788114"/>
                </a:lnTo>
                <a:cubicBezTo>
                  <a:pt x="5592748" y="830066"/>
                  <a:pt x="5558739" y="864075"/>
                  <a:pt x="5516787" y="864075"/>
                </a:cubicBezTo>
                <a:lnTo>
                  <a:pt x="75961" y="864075"/>
                </a:lnTo>
                <a:cubicBezTo>
                  <a:pt x="34009" y="864075"/>
                  <a:pt x="0" y="830066"/>
                  <a:pt x="0" y="788114"/>
                </a:cubicBezTo>
                <a:lnTo>
                  <a:pt x="0" y="75961"/>
                </a:lnTo>
                <a:cubicBezTo>
                  <a:pt x="0" y="34009"/>
                  <a:pt x="34009" y="0"/>
                  <a:pt x="75961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 w="12700">
            <a:solidFill>
              <a:srgbClr val="4A6D8C">
                <a:alpha val="4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69307" y="2136449"/>
            <a:ext cx="5355364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b="1" dirty="0">
                <a:solidFill>
                  <a:srgbClr val="C8A9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Challenge 1: Vocabulary Limitation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369307" y="2440299"/>
            <a:ext cx="5355364" cy="246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6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F5-TTS base vocabulary has ~2,545 characters, </a:t>
            </a:r>
            <a:pPr>
              <a:lnSpc>
                <a:spcPct val="140000"/>
              </a:lnSpc>
            </a:pPr>
            <a:r>
              <a:rPr lang="en-US" sz="1196" b="1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Arabic Unicode support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212634" y="2967290"/>
            <a:ext cx="5592748" cy="1110953"/>
          </a:xfrm>
          <a:custGeom>
            <a:avLst/>
            <a:gdLst/>
            <a:ahLst/>
            <a:cxnLst/>
            <a:rect l="l" t="t" r="r" b="b"/>
            <a:pathLst>
              <a:path w="5592748" h="1110953">
                <a:moveTo>
                  <a:pt x="75967" y="0"/>
                </a:moveTo>
                <a:lnTo>
                  <a:pt x="5516781" y="0"/>
                </a:lnTo>
                <a:cubicBezTo>
                  <a:pt x="5558736" y="0"/>
                  <a:pt x="5592748" y="34012"/>
                  <a:pt x="5592748" y="75967"/>
                </a:cubicBezTo>
                <a:lnTo>
                  <a:pt x="5592748" y="1034986"/>
                </a:lnTo>
                <a:cubicBezTo>
                  <a:pt x="5592748" y="1076942"/>
                  <a:pt x="5558736" y="1110953"/>
                  <a:pt x="5516781" y="1110953"/>
                </a:cubicBezTo>
                <a:lnTo>
                  <a:pt x="75967" y="1110953"/>
                </a:lnTo>
                <a:cubicBezTo>
                  <a:pt x="34012" y="1110953"/>
                  <a:pt x="0" y="1076942"/>
                  <a:pt x="0" y="1034986"/>
                </a:cubicBezTo>
                <a:lnTo>
                  <a:pt x="0" y="75967"/>
                </a:lnTo>
                <a:cubicBezTo>
                  <a:pt x="0" y="34012"/>
                  <a:pt x="34012" y="0"/>
                  <a:pt x="75967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 w="12700">
            <a:solidFill>
              <a:srgbClr val="4A6D8C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69307" y="3123963"/>
            <a:ext cx="5355364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b="1" dirty="0">
                <a:solidFill>
                  <a:srgbClr val="C8A9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Solution: Vocabulary Extension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369307" y="3427813"/>
            <a:ext cx="5355364" cy="4937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6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Extended vocab.txt with Arabic characters, resized text embedding layer (vocab_size + 1 for padding)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212634" y="4201682"/>
            <a:ext cx="5592748" cy="864075"/>
          </a:xfrm>
          <a:custGeom>
            <a:avLst/>
            <a:gdLst/>
            <a:ahLst/>
            <a:cxnLst/>
            <a:rect l="l" t="t" r="r" b="b"/>
            <a:pathLst>
              <a:path w="5592748" h="864075">
                <a:moveTo>
                  <a:pt x="75961" y="0"/>
                </a:moveTo>
                <a:lnTo>
                  <a:pt x="5516787" y="0"/>
                </a:lnTo>
                <a:cubicBezTo>
                  <a:pt x="5558739" y="0"/>
                  <a:pt x="5592748" y="34009"/>
                  <a:pt x="5592748" y="75961"/>
                </a:cubicBezTo>
                <a:lnTo>
                  <a:pt x="5592748" y="788114"/>
                </a:lnTo>
                <a:cubicBezTo>
                  <a:pt x="5592748" y="830066"/>
                  <a:pt x="5558739" y="864075"/>
                  <a:pt x="5516787" y="864075"/>
                </a:cubicBezTo>
                <a:lnTo>
                  <a:pt x="75961" y="864075"/>
                </a:lnTo>
                <a:cubicBezTo>
                  <a:pt x="34009" y="864075"/>
                  <a:pt x="0" y="830066"/>
                  <a:pt x="0" y="788114"/>
                </a:cubicBezTo>
                <a:lnTo>
                  <a:pt x="0" y="75961"/>
                </a:lnTo>
                <a:cubicBezTo>
                  <a:pt x="0" y="34009"/>
                  <a:pt x="34009" y="0"/>
                  <a:pt x="75961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 w="12700">
            <a:solidFill>
              <a:srgbClr val="4A6D8C">
                <a:alpha val="4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69307" y="4358355"/>
            <a:ext cx="5355364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b="1" dirty="0">
                <a:solidFill>
                  <a:srgbClr val="C8A9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Training Progress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369307" y="4662206"/>
            <a:ext cx="5355364" cy="246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6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Reached </a:t>
            </a:r>
            <a:pPr>
              <a:lnSpc>
                <a:spcPct val="140000"/>
              </a:lnSpc>
            </a:pPr>
            <a:r>
              <a:rPr lang="en-US" sz="1196" b="1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1,500+</a:t>
            </a:r>
            <a:pPr>
              <a:lnSpc>
                <a:spcPct val="140000"/>
              </a:lnSpc>
            </a:pPr>
            <a:r>
              <a:rPr lang="en-US" sz="1196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on Colab H100 before deadline pressure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212634" y="5189196"/>
            <a:ext cx="5592748" cy="1072972"/>
          </a:xfrm>
          <a:custGeom>
            <a:avLst/>
            <a:gdLst/>
            <a:ahLst/>
            <a:cxnLst/>
            <a:rect l="l" t="t" r="r" b="b"/>
            <a:pathLst>
              <a:path w="5592748" h="1072972">
                <a:moveTo>
                  <a:pt x="75966" y="0"/>
                </a:moveTo>
                <a:lnTo>
                  <a:pt x="5516781" y="0"/>
                </a:lnTo>
                <a:cubicBezTo>
                  <a:pt x="5558736" y="0"/>
                  <a:pt x="5592748" y="34011"/>
                  <a:pt x="5592748" y="75966"/>
                </a:cubicBezTo>
                <a:lnTo>
                  <a:pt x="5592748" y="997006"/>
                </a:lnTo>
                <a:cubicBezTo>
                  <a:pt x="5592748" y="1038961"/>
                  <a:pt x="5558736" y="1072972"/>
                  <a:pt x="5516781" y="1072972"/>
                </a:cubicBezTo>
                <a:lnTo>
                  <a:pt x="75966" y="1072972"/>
                </a:lnTo>
                <a:cubicBezTo>
                  <a:pt x="34011" y="1072972"/>
                  <a:pt x="0" y="1038961"/>
                  <a:pt x="0" y="997006"/>
                </a:cubicBezTo>
                <a:lnTo>
                  <a:pt x="0" y="75966"/>
                </a:lnTo>
                <a:cubicBezTo>
                  <a:pt x="0" y="34039"/>
                  <a:pt x="34039" y="0"/>
                  <a:pt x="75966" y="0"/>
                </a:cubicBezTo>
                <a:close/>
              </a:path>
            </a:pathLst>
          </a:custGeom>
          <a:solidFill>
            <a:srgbClr val="C8A97E">
              <a:alpha val="10196"/>
            </a:srgbClr>
          </a:solidFill>
          <a:ln w="12700">
            <a:solidFill>
              <a:srgbClr val="C8A97E">
                <a:alpha val="30196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69307" y="5345869"/>
            <a:ext cx="5355364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b="1" dirty="0">
                <a:solidFill>
                  <a:srgbClr val="C8A9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Current Status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369307" y="5649720"/>
            <a:ext cx="5355364" cy="455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b="1" dirty="0">
                <a:solidFill>
                  <a:srgbClr val="F0B1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Deferred</a:t>
            </a:r>
            <a:pPr>
              <a:lnSpc>
                <a:spcPct val="130000"/>
              </a:lnSpc>
            </a:pPr>
            <a:r>
              <a:rPr lang="en-US" sz="1196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Fine-tuned checkpoint not yet integrated; model selector added for user choice between F5-TTS (base) vs Voxtral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84561" y="6385607"/>
            <a:ext cx="11422879" cy="465271"/>
          </a:xfrm>
          <a:custGeom>
            <a:avLst/>
            <a:gdLst/>
            <a:ahLst/>
            <a:cxnLst/>
            <a:rect l="l" t="t" r="r" b="b"/>
            <a:pathLst>
              <a:path w="11422879" h="465271">
                <a:moveTo>
                  <a:pt x="75965" y="0"/>
                </a:moveTo>
                <a:lnTo>
                  <a:pt x="11346914" y="0"/>
                </a:lnTo>
                <a:cubicBezTo>
                  <a:pt x="11388868" y="0"/>
                  <a:pt x="11422879" y="34011"/>
                  <a:pt x="11422879" y="75965"/>
                </a:cubicBezTo>
                <a:lnTo>
                  <a:pt x="11422879" y="389306"/>
                </a:lnTo>
                <a:cubicBezTo>
                  <a:pt x="11422879" y="431260"/>
                  <a:pt x="11388868" y="465271"/>
                  <a:pt x="11346914" y="465271"/>
                </a:cubicBezTo>
                <a:lnTo>
                  <a:pt x="75965" y="465271"/>
                </a:lnTo>
                <a:cubicBezTo>
                  <a:pt x="34039" y="465271"/>
                  <a:pt x="0" y="431232"/>
                  <a:pt x="0" y="389306"/>
                </a:cubicBezTo>
                <a:lnTo>
                  <a:pt x="0" y="75965"/>
                </a:lnTo>
                <a:cubicBezTo>
                  <a:pt x="0" y="34039"/>
                  <a:pt x="34039" y="0"/>
                  <a:pt x="75965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 w="12700">
            <a:solidFill>
              <a:srgbClr val="4A6D8C">
                <a:alpha val="4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518461" y="6528037"/>
            <a:ext cx="113944" cy="151925"/>
          </a:xfrm>
          <a:custGeom>
            <a:avLst/>
            <a:gdLst/>
            <a:ahLst/>
            <a:cxnLst/>
            <a:rect l="l" t="t" r="r" b="b"/>
            <a:pathLst>
              <a:path w="113944" h="151925">
                <a:moveTo>
                  <a:pt x="86912" y="113944"/>
                </a:moveTo>
                <a:cubicBezTo>
                  <a:pt x="89078" y="107327"/>
                  <a:pt x="93410" y="101333"/>
                  <a:pt x="98306" y="96170"/>
                </a:cubicBezTo>
                <a:cubicBezTo>
                  <a:pt x="108009" y="85962"/>
                  <a:pt x="113944" y="72164"/>
                  <a:pt x="113944" y="56972"/>
                </a:cubicBezTo>
                <a:cubicBezTo>
                  <a:pt x="113944" y="25519"/>
                  <a:pt x="88425" y="0"/>
                  <a:pt x="56972" y="0"/>
                </a:cubicBezTo>
                <a:cubicBezTo>
                  <a:pt x="25519" y="0"/>
                  <a:pt x="0" y="25519"/>
                  <a:pt x="0" y="56972"/>
                </a:cubicBezTo>
                <a:cubicBezTo>
                  <a:pt x="0" y="72164"/>
                  <a:pt x="5935" y="85962"/>
                  <a:pt x="15638" y="96170"/>
                </a:cubicBezTo>
                <a:cubicBezTo>
                  <a:pt x="20534" y="101333"/>
                  <a:pt x="24896" y="107327"/>
                  <a:pt x="27032" y="113944"/>
                </a:cubicBezTo>
                <a:lnTo>
                  <a:pt x="86882" y="113944"/>
                </a:lnTo>
                <a:close/>
                <a:moveTo>
                  <a:pt x="85458" y="128187"/>
                </a:moveTo>
                <a:lnTo>
                  <a:pt x="28486" y="128187"/>
                </a:lnTo>
                <a:lnTo>
                  <a:pt x="28486" y="132935"/>
                </a:lnTo>
                <a:cubicBezTo>
                  <a:pt x="28486" y="146050"/>
                  <a:pt x="39109" y="156673"/>
                  <a:pt x="52224" y="156673"/>
                </a:cubicBezTo>
                <a:lnTo>
                  <a:pt x="61720" y="156673"/>
                </a:lnTo>
                <a:cubicBezTo>
                  <a:pt x="74835" y="156673"/>
                  <a:pt x="85458" y="146050"/>
                  <a:pt x="85458" y="132935"/>
                </a:cubicBezTo>
                <a:lnTo>
                  <a:pt x="85458" y="128187"/>
                </a:lnTo>
                <a:close/>
                <a:moveTo>
                  <a:pt x="54598" y="33234"/>
                </a:moveTo>
                <a:cubicBezTo>
                  <a:pt x="42788" y="33234"/>
                  <a:pt x="33234" y="42788"/>
                  <a:pt x="33234" y="54598"/>
                </a:cubicBezTo>
                <a:cubicBezTo>
                  <a:pt x="33234" y="58545"/>
                  <a:pt x="30059" y="61720"/>
                  <a:pt x="26112" y="61720"/>
                </a:cubicBezTo>
                <a:cubicBezTo>
                  <a:pt x="22166" y="61720"/>
                  <a:pt x="18991" y="58545"/>
                  <a:pt x="18991" y="54598"/>
                </a:cubicBezTo>
                <a:cubicBezTo>
                  <a:pt x="18991" y="34925"/>
                  <a:pt x="34925" y="18991"/>
                  <a:pt x="54598" y="18991"/>
                </a:cubicBezTo>
                <a:cubicBezTo>
                  <a:pt x="58545" y="18991"/>
                  <a:pt x="61720" y="22166"/>
                  <a:pt x="61720" y="26112"/>
                </a:cubicBezTo>
                <a:cubicBezTo>
                  <a:pt x="61720" y="30059"/>
                  <a:pt x="58545" y="33234"/>
                  <a:pt x="54598" y="33234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37" name="Text 35"/>
          <p:cNvSpPr/>
          <p:nvPr/>
        </p:nvSpPr>
        <p:spPr>
          <a:xfrm>
            <a:off x="711972" y="6504299"/>
            <a:ext cx="11014757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96" b="1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Learning Outcome:</a:t>
            </a:r>
            <a:pPr algn="ctr">
              <a:lnSpc>
                <a:spcPct val="130000"/>
              </a:lnSpc>
            </a:pPr>
            <a:r>
              <a:rPr lang="en-US" sz="1196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Demonstrated ability to modify pre-trained model architectures and handle non-Latin character sets in TTS systems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 Outcomes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Results &amp; Tech Stack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5" name="Shape 3"/>
          <p:cNvSpPr/>
          <p:nvPr/>
        </p:nvSpPr>
        <p:spPr>
          <a:xfrm>
            <a:off x="381000" y="1371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6" name="Shape 4"/>
          <p:cNvSpPr/>
          <p:nvPr/>
        </p:nvSpPr>
        <p:spPr>
          <a:xfrm>
            <a:off x="514350" y="15049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7" name="Text 5"/>
          <p:cNvSpPr/>
          <p:nvPr/>
        </p:nvSpPr>
        <p:spPr>
          <a:xfrm>
            <a:off x="952500" y="1447800"/>
            <a:ext cx="2305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 Results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85763" y="1985963"/>
            <a:ext cx="5591175" cy="885825"/>
          </a:xfrm>
          <a:custGeom>
            <a:avLst/>
            <a:gdLst/>
            <a:ahLst/>
            <a:cxnLst/>
            <a:rect l="l" t="t" r="r" b="b"/>
            <a:pathLst>
              <a:path w="5591175" h="885825">
                <a:moveTo>
                  <a:pt x="76199" y="0"/>
                </a:moveTo>
                <a:lnTo>
                  <a:pt x="5514976" y="0"/>
                </a:lnTo>
                <a:cubicBezTo>
                  <a:pt x="5557060" y="0"/>
                  <a:pt x="5591175" y="34115"/>
                  <a:pt x="5591175" y="76199"/>
                </a:cubicBezTo>
                <a:lnTo>
                  <a:pt x="5591175" y="809626"/>
                </a:lnTo>
                <a:cubicBezTo>
                  <a:pt x="5591175" y="851710"/>
                  <a:pt x="5557060" y="885825"/>
                  <a:pt x="5514976" y="885825"/>
                </a:cubicBezTo>
                <a:lnTo>
                  <a:pt x="76199" y="885825"/>
                </a:lnTo>
                <a:cubicBezTo>
                  <a:pt x="34115" y="885825"/>
                  <a:pt x="0" y="851710"/>
                  <a:pt x="0" y="8096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 w="12700">
            <a:solidFill>
              <a:srgbClr val="4A6D8C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1500" y="21621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10" name="Text 8"/>
          <p:cNvSpPr/>
          <p:nvPr/>
        </p:nvSpPr>
        <p:spPr>
          <a:xfrm>
            <a:off x="942975" y="2143125"/>
            <a:ext cx="1666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End-to-End Pipeline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2925" y="2486025"/>
            <a:ext cx="5353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 pipeline operational: upload → dubbed English video + SRT subtitles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85763" y="2995613"/>
            <a:ext cx="2733675" cy="1076325"/>
          </a:xfrm>
          <a:custGeom>
            <a:avLst/>
            <a:gdLst/>
            <a:ahLst/>
            <a:cxnLst/>
            <a:rect l="l" t="t" r="r" b="b"/>
            <a:pathLst>
              <a:path w="2733675" h="1076325">
                <a:moveTo>
                  <a:pt x="76204" y="0"/>
                </a:moveTo>
                <a:lnTo>
                  <a:pt x="2657471" y="0"/>
                </a:lnTo>
                <a:cubicBezTo>
                  <a:pt x="2699557" y="0"/>
                  <a:pt x="2733675" y="34118"/>
                  <a:pt x="2733675" y="76204"/>
                </a:cubicBezTo>
                <a:lnTo>
                  <a:pt x="2733675" y="1000121"/>
                </a:lnTo>
                <a:cubicBezTo>
                  <a:pt x="2733675" y="1042207"/>
                  <a:pt x="2699557" y="1076325"/>
                  <a:pt x="2657471" y="1076325"/>
                </a:cubicBezTo>
                <a:lnTo>
                  <a:pt x="76204" y="1076325"/>
                </a:lnTo>
                <a:cubicBezTo>
                  <a:pt x="34118" y="1076325"/>
                  <a:pt x="0" y="1042207"/>
                  <a:pt x="0" y="100012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C8A97E">
              <a:alpha val="10196"/>
            </a:srgbClr>
          </a:solidFill>
          <a:ln w="12700">
            <a:solidFill>
              <a:srgbClr val="C8A97E">
                <a:alpha val="30196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1488" y="3152775"/>
            <a:ext cx="25622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C8A9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3-8 min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9587" y="3533775"/>
            <a:ext cx="2486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Processing Time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14350" y="3762375"/>
            <a:ext cx="2476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 short video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243263" y="2995613"/>
            <a:ext cx="2733675" cy="1076325"/>
          </a:xfrm>
          <a:custGeom>
            <a:avLst/>
            <a:gdLst/>
            <a:ahLst/>
            <a:cxnLst/>
            <a:rect l="l" t="t" r="r" b="b"/>
            <a:pathLst>
              <a:path w="2733675" h="1076325">
                <a:moveTo>
                  <a:pt x="76204" y="0"/>
                </a:moveTo>
                <a:lnTo>
                  <a:pt x="2657471" y="0"/>
                </a:lnTo>
                <a:cubicBezTo>
                  <a:pt x="2699557" y="0"/>
                  <a:pt x="2733675" y="34118"/>
                  <a:pt x="2733675" y="76204"/>
                </a:cubicBezTo>
                <a:lnTo>
                  <a:pt x="2733675" y="1000121"/>
                </a:lnTo>
                <a:cubicBezTo>
                  <a:pt x="2733675" y="1042207"/>
                  <a:pt x="2699557" y="1076325"/>
                  <a:pt x="2657471" y="1076325"/>
                </a:cubicBezTo>
                <a:lnTo>
                  <a:pt x="76204" y="1076325"/>
                </a:lnTo>
                <a:cubicBezTo>
                  <a:pt x="34118" y="1076325"/>
                  <a:pt x="0" y="1042207"/>
                  <a:pt x="0" y="100012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C8A97E">
              <a:alpha val="10196"/>
            </a:srgbClr>
          </a:solidFill>
          <a:ln w="12700">
            <a:solidFill>
              <a:srgbClr val="C8A97E">
                <a:alpha val="30196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28988" y="3152775"/>
            <a:ext cx="25622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C8A9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$0.05-0.15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367088" y="3533775"/>
            <a:ext cx="2486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Cost per Video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371850" y="3762375"/>
            <a:ext cx="2476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competitive pricing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85763" y="4195763"/>
            <a:ext cx="5591175" cy="885825"/>
          </a:xfrm>
          <a:custGeom>
            <a:avLst/>
            <a:gdLst/>
            <a:ahLst/>
            <a:cxnLst/>
            <a:rect l="l" t="t" r="r" b="b"/>
            <a:pathLst>
              <a:path w="5591175" h="885825">
                <a:moveTo>
                  <a:pt x="76199" y="0"/>
                </a:moveTo>
                <a:lnTo>
                  <a:pt x="5514976" y="0"/>
                </a:lnTo>
                <a:cubicBezTo>
                  <a:pt x="5557060" y="0"/>
                  <a:pt x="5591175" y="34115"/>
                  <a:pt x="5591175" y="76199"/>
                </a:cubicBezTo>
                <a:lnTo>
                  <a:pt x="5591175" y="809626"/>
                </a:lnTo>
                <a:cubicBezTo>
                  <a:pt x="5591175" y="851710"/>
                  <a:pt x="5557060" y="885825"/>
                  <a:pt x="5514976" y="885825"/>
                </a:cubicBezTo>
                <a:lnTo>
                  <a:pt x="76199" y="885825"/>
                </a:lnTo>
                <a:cubicBezTo>
                  <a:pt x="34115" y="885825"/>
                  <a:pt x="0" y="851710"/>
                  <a:pt x="0" y="8096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 w="12700">
            <a:solidFill>
              <a:srgbClr val="4A6D8C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0075" y="4371975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85725" y="0"/>
                </a:moveTo>
                <a:cubicBezTo>
                  <a:pt x="62061" y="0"/>
                  <a:pt x="42863" y="19199"/>
                  <a:pt x="42863" y="42863"/>
                </a:cubicBezTo>
                <a:lnTo>
                  <a:pt x="42863" y="100013"/>
                </a:lnTo>
                <a:cubicBezTo>
                  <a:pt x="42863" y="123676"/>
                  <a:pt x="62061" y="142875"/>
                  <a:pt x="85725" y="142875"/>
                </a:cubicBezTo>
                <a:cubicBezTo>
                  <a:pt x="109389" y="142875"/>
                  <a:pt x="128588" y="123676"/>
                  <a:pt x="128588" y="100013"/>
                </a:cubicBezTo>
                <a:lnTo>
                  <a:pt x="128588" y="42863"/>
                </a:lnTo>
                <a:cubicBezTo>
                  <a:pt x="128588" y="19199"/>
                  <a:pt x="109389" y="0"/>
                  <a:pt x="85725" y="0"/>
                </a:cubicBezTo>
                <a:close/>
                <a:moveTo>
                  <a:pt x="21431" y="82153"/>
                </a:moveTo>
                <a:cubicBezTo>
                  <a:pt x="21431" y="76215"/>
                  <a:pt x="16654" y="71438"/>
                  <a:pt x="10716" y="71438"/>
                </a:cubicBezTo>
                <a:cubicBezTo>
                  <a:pt x="4777" y="71438"/>
                  <a:pt x="0" y="76215"/>
                  <a:pt x="0" y="82153"/>
                </a:cubicBezTo>
                <a:lnTo>
                  <a:pt x="0" y="100013"/>
                </a:lnTo>
                <a:cubicBezTo>
                  <a:pt x="0" y="143723"/>
                  <a:pt x="32727" y="179799"/>
                  <a:pt x="75009" y="185068"/>
                </a:cubicBezTo>
                <a:lnTo>
                  <a:pt x="75009" y="207169"/>
                </a:lnTo>
                <a:lnTo>
                  <a:pt x="53578" y="207169"/>
                </a:lnTo>
                <a:cubicBezTo>
                  <a:pt x="47640" y="207169"/>
                  <a:pt x="42863" y="211946"/>
                  <a:pt x="42863" y="217884"/>
                </a:cubicBezTo>
                <a:cubicBezTo>
                  <a:pt x="42863" y="223823"/>
                  <a:pt x="47640" y="228600"/>
                  <a:pt x="53578" y="228600"/>
                </a:cubicBezTo>
                <a:lnTo>
                  <a:pt x="117872" y="228600"/>
                </a:lnTo>
                <a:cubicBezTo>
                  <a:pt x="123810" y="228600"/>
                  <a:pt x="128588" y="223823"/>
                  <a:pt x="128588" y="217884"/>
                </a:cubicBezTo>
                <a:cubicBezTo>
                  <a:pt x="128588" y="211946"/>
                  <a:pt x="123810" y="207169"/>
                  <a:pt x="117872" y="207169"/>
                </a:cubicBezTo>
                <a:lnTo>
                  <a:pt x="96441" y="207169"/>
                </a:lnTo>
                <a:lnTo>
                  <a:pt x="96441" y="185068"/>
                </a:lnTo>
                <a:cubicBezTo>
                  <a:pt x="138723" y="179799"/>
                  <a:pt x="171450" y="143723"/>
                  <a:pt x="171450" y="100013"/>
                </a:cubicBezTo>
                <a:lnTo>
                  <a:pt x="171450" y="82153"/>
                </a:lnTo>
                <a:cubicBezTo>
                  <a:pt x="171450" y="76215"/>
                  <a:pt x="166673" y="71438"/>
                  <a:pt x="160734" y="71438"/>
                </a:cubicBezTo>
                <a:cubicBezTo>
                  <a:pt x="154796" y="71438"/>
                  <a:pt x="150019" y="76215"/>
                  <a:pt x="150019" y="82153"/>
                </a:cubicBezTo>
                <a:lnTo>
                  <a:pt x="150019" y="100013"/>
                </a:lnTo>
                <a:cubicBezTo>
                  <a:pt x="150019" y="135508"/>
                  <a:pt x="121221" y="164306"/>
                  <a:pt x="85725" y="164306"/>
                </a:cubicBezTo>
                <a:cubicBezTo>
                  <a:pt x="50229" y="164306"/>
                  <a:pt x="21431" y="135508"/>
                  <a:pt x="21431" y="100013"/>
                </a:cubicBezTo>
                <a:lnTo>
                  <a:pt x="21431" y="82153"/>
                </a:ln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22" name="Text 20"/>
          <p:cNvSpPr/>
          <p:nvPr/>
        </p:nvSpPr>
        <p:spPr>
          <a:xfrm>
            <a:off x="942975" y="4352925"/>
            <a:ext cx="1352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 TTS Backends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42925" y="4695825"/>
            <a:ext cx="5353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F5-TTS and Voxtral options with model selector for different use cases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85763" y="5205413"/>
            <a:ext cx="5591175" cy="885825"/>
          </a:xfrm>
          <a:custGeom>
            <a:avLst/>
            <a:gdLst/>
            <a:ahLst/>
            <a:cxnLst/>
            <a:rect l="l" t="t" r="r" b="b"/>
            <a:pathLst>
              <a:path w="5591175" h="885825">
                <a:moveTo>
                  <a:pt x="76199" y="0"/>
                </a:moveTo>
                <a:lnTo>
                  <a:pt x="5514976" y="0"/>
                </a:lnTo>
                <a:cubicBezTo>
                  <a:pt x="5557060" y="0"/>
                  <a:pt x="5591175" y="34115"/>
                  <a:pt x="5591175" y="76199"/>
                </a:cubicBezTo>
                <a:lnTo>
                  <a:pt x="5591175" y="809626"/>
                </a:lnTo>
                <a:cubicBezTo>
                  <a:pt x="5591175" y="851710"/>
                  <a:pt x="5557060" y="885825"/>
                  <a:pt x="5514976" y="885825"/>
                </a:cubicBezTo>
                <a:lnTo>
                  <a:pt x="76199" y="885825"/>
                </a:lnTo>
                <a:cubicBezTo>
                  <a:pt x="34115" y="885825"/>
                  <a:pt x="0" y="851710"/>
                  <a:pt x="0" y="8096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 w="12700">
            <a:solidFill>
              <a:srgbClr val="4A6D8C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1500" y="53816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57150"/>
                </a:moveTo>
                <a:cubicBezTo>
                  <a:pt x="0" y="41389"/>
                  <a:pt x="12814" y="28575"/>
                  <a:pt x="28575" y="28575"/>
                </a:cubicBezTo>
                <a:lnTo>
                  <a:pt x="200025" y="28575"/>
                </a:lnTo>
                <a:cubicBezTo>
                  <a:pt x="215786" y="28575"/>
                  <a:pt x="228600" y="41389"/>
                  <a:pt x="228600" y="57150"/>
                </a:cubicBezTo>
                <a:lnTo>
                  <a:pt x="228600" y="171450"/>
                </a:lnTo>
                <a:cubicBezTo>
                  <a:pt x="228600" y="187211"/>
                  <a:pt x="215786" y="200025"/>
                  <a:pt x="200025" y="200025"/>
                </a:cubicBezTo>
                <a:lnTo>
                  <a:pt x="28575" y="200025"/>
                </a:lnTo>
                <a:cubicBezTo>
                  <a:pt x="12814" y="200025"/>
                  <a:pt x="0" y="187211"/>
                  <a:pt x="0" y="171450"/>
                </a:cubicBezTo>
                <a:lnTo>
                  <a:pt x="0" y="57150"/>
                </a:lnTo>
                <a:close/>
                <a:moveTo>
                  <a:pt x="67866" y="92869"/>
                </a:moveTo>
                <a:lnTo>
                  <a:pt x="82153" y="92869"/>
                </a:lnTo>
                <a:cubicBezTo>
                  <a:pt x="84118" y="92869"/>
                  <a:pt x="85725" y="94476"/>
                  <a:pt x="85725" y="96441"/>
                </a:cubicBezTo>
                <a:cubicBezTo>
                  <a:pt x="85725" y="102379"/>
                  <a:pt x="90502" y="107156"/>
                  <a:pt x="96441" y="107156"/>
                </a:cubicBezTo>
                <a:cubicBezTo>
                  <a:pt x="102379" y="107156"/>
                  <a:pt x="107156" y="102379"/>
                  <a:pt x="107156" y="96441"/>
                </a:cubicBezTo>
                <a:cubicBezTo>
                  <a:pt x="107156" y="82644"/>
                  <a:pt x="95949" y="71438"/>
                  <a:pt x="82153" y="71438"/>
                </a:cubicBezTo>
                <a:lnTo>
                  <a:pt x="67866" y="71438"/>
                </a:lnTo>
                <a:cubicBezTo>
                  <a:pt x="54069" y="71438"/>
                  <a:pt x="42863" y="82644"/>
                  <a:pt x="42863" y="96441"/>
                </a:cubicBezTo>
                <a:lnTo>
                  <a:pt x="42863" y="132159"/>
                </a:lnTo>
                <a:cubicBezTo>
                  <a:pt x="42863" y="145956"/>
                  <a:pt x="54069" y="157163"/>
                  <a:pt x="67866" y="157163"/>
                </a:cubicBezTo>
                <a:lnTo>
                  <a:pt x="82153" y="157163"/>
                </a:lnTo>
                <a:cubicBezTo>
                  <a:pt x="95949" y="157163"/>
                  <a:pt x="107156" y="145956"/>
                  <a:pt x="107156" y="132159"/>
                </a:cubicBezTo>
                <a:cubicBezTo>
                  <a:pt x="107156" y="126221"/>
                  <a:pt x="102379" y="121444"/>
                  <a:pt x="96441" y="121444"/>
                </a:cubicBezTo>
                <a:cubicBezTo>
                  <a:pt x="90502" y="121444"/>
                  <a:pt x="85725" y="126221"/>
                  <a:pt x="85725" y="132159"/>
                </a:cubicBezTo>
                <a:cubicBezTo>
                  <a:pt x="85725" y="134124"/>
                  <a:pt x="84118" y="135731"/>
                  <a:pt x="82153" y="135731"/>
                </a:cubicBezTo>
                <a:lnTo>
                  <a:pt x="67866" y="135731"/>
                </a:lnTo>
                <a:cubicBezTo>
                  <a:pt x="65901" y="135731"/>
                  <a:pt x="64294" y="134124"/>
                  <a:pt x="64294" y="132159"/>
                </a:cubicBezTo>
                <a:lnTo>
                  <a:pt x="64294" y="96441"/>
                </a:lnTo>
                <a:cubicBezTo>
                  <a:pt x="64294" y="94476"/>
                  <a:pt x="65901" y="92869"/>
                  <a:pt x="67866" y="92869"/>
                </a:cubicBezTo>
                <a:close/>
                <a:moveTo>
                  <a:pt x="142875" y="96441"/>
                </a:moveTo>
                <a:cubicBezTo>
                  <a:pt x="142875" y="94476"/>
                  <a:pt x="144482" y="92869"/>
                  <a:pt x="146447" y="92869"/>
                </a:cubicBezTo>
                <a:lnTo>
                  <a:pt x="160734" y="92869"/>
                </a:lnTo>
                <a:cubicBezTo>
                  <a:pt x="162699" y="92869"/>
                  <a:pt x="164306" y="94476"/>
                  <a:pt x="164306" y="96441"/>
                </a:cubicBezTo>
                <a:cubicBezTo>
                  <a:pt x="164306" y="102379"/>
                  <a:pt x="169084" y="107156"/>
                  <a:pt x="175022" y="107156"/>
                </a:cubicBezTo>
                <a:cubicBezTo>
                  <a:pt x="180960" y="107156"/>
                  <a:pt x="185738" y="102379"/>
                  <a:pt x="185738" y="96441"/>
                </a:cubicBezTo>
                <a:cubicBezTo>
                  <a:pt x="185738" y="82644"/>
                  <a:pt x="174531" y="71438"/>
                  <a:pt x="160734" y="71438"/>
                </a:cubicBezTo>
                <a:lnTo>
                  <a:pt x="146447" y="71438"/>
                </a:lnTo>
                <a:cubicBezTo>
                  <a:pt x="132651" y="71438"/>
                  <a:pt x="121444" y="82644"/>
                  <a:pt x="121444" y="96441"/>
                </a:cubicBezTo>
                <a:lnTo>
                  <a:pt x="121444" y="132159"/>
                </a:lnTo>
                <a:cubicBezTo>
                  <a:pt x="121444" y="145956"/>
                  <a:pt x="132651" y="157163"/>
                  <a:pt x="146447" y="157163"/>
                </a:cubicBezTo>
                <a:lnTo>
                  <a:pt x="160734" y="157163"/>
                </a:lnTo>
                <a:cubicBezTo>
                  <a:pt x="174531" y="157163"/>
                  <a:pt x="185738" y="145956"/>
                  <a:pt x="185738" y="132159"/>
                </a:cubicBezTo>
                <a:cubicBezTo>
                  <a:pt x="185738" y="126221"/>
                  <a:pt x="180960" y="121444"/>
                  <a:pt x="175022" y="121444"/>
                </a:cubicBezTo>
                <a:cubicBezTo>
                  <a:pt x="169084" y="121444"/>
                  <a:pt x="164306" y="126221"/>
                  <a:pt x="164306" y="132159"/>
                </a:cubicBezTo>
                <a:cubicBezTo>
                  <a:pt x="164306" y="134124"/>
                  <a:pt x="162699" y="135731"/>
                  <a:pt x="160734" y="135731"/>
                </a:cubicBezTo>
                <a:lnTo>
                  <a:pt x="146447" y="135731"/>
                </a:lnTo>
                <a:cubicBezTo>
                  <a:pt x="144482" y="135731"/>
                  <a:pt x="142875" y="134124"/>
                  <a:pt x="142875" y="132159"/>
                </a:cubicBezTo>
                <a:lnTo>
                  <a:pt x="142875" y="96441"/>
                </a:ln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26" name="Text 24"/>
          <p:cNvSpPr/>
          <p:nvPr/>
        </p:nvSpPr>
        <p:spPr>
          <a:xfrm>
            <a:off x="942975" y="5362575"/>
            <a:ext cx="1504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Bilingual Subtitles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42925" y="5705475"/>
            <a:ext cx="5353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Source language + English SRT generation for accessibility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210300" y="1371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29" name="Shape 27"/>
          <p:cNvSpPr/>
          <p:nvPr/>
        </p:nvSpPr>
        <p:spPr>
          <a:xfrm>
            <a:off x="6343650" y="15049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6506" y="1935"/>
                </a:moveTo>
                <a:cubicBezTo>
                  <a:pt x="92050" y="-633"/>
                  <a:pt x="98450" y="-633"/>
                  <a:pt x="103994" y="1935"/>
                </a:cubicBezTo>
                <a:lnTo>
                  <a:pt x="185328" y="39514"/>
                </a:lnTo>
                <a:cubicBezTo>
                  <a:pt x="188491" y="40965"/>
                  <a:pt x="190500" y="44128"/>
                  <a:pt x="190500" y="47625"/>
                </a:cubicBezTo>
                <a:cubicBezTo>
                  <a:pt x="190500" y="51122"/>
                  <a:pt x="188491" y="54285"/>
                  <a:pt x="185328" y="55736"/>
                </a:cubicBezTo>
                <a:lnTo>
                  <a:pt x="103994" y="93315"/>
                </a:lnTo>
                <a:cubicBezTo>
                  <a:pt x="98450" y="95883"/>
                  <a:pt x="92050" y="95883"/>
                  <a:pt x="86506" y="93315"/>
                </a:cubicBezTo>
                <a:lnTo>
                  <a:pt x="5172" y="55736"/>
                </a:lnTo>
                <a:cubicBezTo>
                  <a:pt x="2009" y="54248"/>
                  <a:pt x="0" y="51085"/>
                  <a:pt x="0" y="47625"/>
                </a:cubicBezTo>
                <a:cubicBezTo>
                  <a:pt x="0" y="44165"/>
                  <a:pt x="2009" y="40965"/>
                  <a:pt x="5172" y="39514"/>
                </a:cubicBezTo>
                <a:lnTo>
                  <a:pt x="86506" y="1935"/>
                </a:lnTo>
                <a:close/>
                <a:moveTo>
                  <a:pt x="17897" y="81260"/>
                </a:moveTo>
                <a:lnTo>
                  <a:pt x="79028" y="109500"/>
                </a:lnTo>
                <a:cubicBezTo>
                  <a:pt x="89334" y="114263"/>
                  <a:pt x="101203" y="114263"/>
                  <a:pt x="111509" y="109500"/>
                </a:cubicBezTo>
                <a:lnTo>
                  <a:pt x="172641" y="81260"/>
                </a:lnTo>
                <a:lnTo>
                  <a:pt x="185328" y="87139"/>
                </a:lnTo>
                <a:cubicBezTo>
                  <a:pt x="188491" y="88590"/>
                  <a:pt x="190500" y="91753"/>
                  <a:pt x="190500" y="95250"/>
                </a:cubicBezTo>
                <a:cubicBezTo>
                  <a:pt x="190500" y="98747"/>
                  <a:pt x="188491" y="101910"/>
                  <a:pt x="185328" y="103361"/>
                </a:cubicBezTo>
                <a:lnTo>
                  <a:pt x="103994" y="140940"/>
                </a:lnTo>
                <a:cubicBezTo>
                  <a:pt x="98450" y="143508"/>
                  <a:pt x="92050" y="143508"/>
                  <a:pt x="86506" y="140940"/>
                </a:cubicBezTo>
                <a:lnTo>
                  <a:pt x="5172" y="103361"/>
                </a:lnTo>
                <a:cubicBezTo>
                  <a:pt x="2009" y="101873"/>
                  <a:pt x="0" y="98710"/>
                  <a:pt x="0" y="95250"/>
                </a:cubicBezTo>
                <a:cubicBezTo>
                  <a:pt x="0" y="91790"/>
                  <a:pt x="2009" y="88590"/>
                  <a:pt x="5172" y="87139"/>
                </a:cubicBezTo>
                <a:lnTo>
                  <a:pt x="17859" y="81260"/>
                </a:lnTo>
                <a:close/>
                <a:moveTo>
                  <a:pt x="5172" y="134764"/>
                </a:moveTo>
                <a:lnTo>
                  <a:pt x="17859" y="128885"/>
                </a:lnTo>
                <a:lnTo>
                  <a:pt x="78991" y="157125"/>
                </a:lnTo>
                <a:cubicBezTo>
                  <a:pt x="89297" y="161888"/>
                  <a:pt x="101166" y="161888"/>
                  <a:pt x="111472" y="157125"/>
                </a:cubicBezTo>
                <a:lnTo>
                  <a:pt x="172603" y="128885"/>
                </a:lnTo>
                <a:lnTo>
                  <a:pt x="185291" y="134764"/>
                </a:lnTo>
                <a:cubicBezTo>
                  <a:pt x="188454" y="136215"/>
                  <a:pt x="190463" y="139378"/>
                  <a:pt x="190463" y="142875"/>
                </a:cubicBezTo>
                <a:cubicBezTo>
                  <a:pt x="190463" y="146372"/>
                  <a:pt x="188454" y="149535"/>
                  <a:pt x="185291" y="150986"/>
                </a:cubicBezTo>
                <a:lnTo>
                  <a:pt x="103956" y="188565"/>
                </a:lnTo>
                <a:cubicBezTo>
                  <a:pt x="98413" y="191133"/>
                  <a:pt x="92013" y="191133"/>
                  <a:pt x="86469" y="188565"/>
                </a:cubicBezTo>
                <a:lnTo>
                  <a:pt x="5172" y="150986"/>
                </a:lnTo>
                <a:cubicBezTo>
                  <a:pt x="2009" y="149498"/>
                  <a:pt x="0" y="146335"/>
                  <a:pt x="0" y="142875"/>
                </a:cubicBezTo>
                <a:cubicBezTo>
                  <a:pt x="0" y="139415"/>
                  <a:pt x="2009" y="136215"/>
                  <a:pt x="5172" y="134764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0" name="Text 28"/>
          <p:cNvSpPr/>
          <p:nvPr/>
        </p:nvSpPr>
        <p:spPr>
          <a:xfrm>
            <a:off x="6781800" y="1447800"/>
            <a:ext cx="2362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Complete Tech Stack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181725" y="2276475"/>
            <a:ext cx="5581650" cy="1371600"/>
          </a:xfrm>
          <a:custGeom>
            <a:avLst/>
            <a:gdLst/>
            <a:ahLst/>
            <a:cxnLst/>
            <a:rect l="l" t="t" r="r" b="b"/>
            <a:pathLst>
              <a:path w="5581650" h="1371600">
                <a:moveTo>
                  <a:pt x="0" y="0"/>
                </a:moveTo>
                <a:lnTo>
                  <a:pt x="5505444" y="0"/>
                </a:lnTo>
                <a:cubicBezTo>
                  <a:pt x="5547531" y="0"/>
                  <a:pt x="5581650" y="34119"/>
                  <a:pt x="5581650" y="76206"/>
                </a:cubicBezTo>
                <a:lnTo>
                  <a:pt x="5581650" y="1295394"/>
                </a:lnTo>
                <a:cubicBezTo>
                  <a:pt x="5581650" y="1337481"/>
                  <a:pt x="5547531" y="1371600"/>
                  <a:pt x="5505444" y="1371600"/>
                </a:cubicBez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solidFill>
            <a:srgbClr val="4A6D8C">
              <a:alpha val="10196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181725" y="2276475"/>
            <a:ext cx="38100" cy="1371600"/>
          </a:xfrm>
          <a:custGeom>
            <a:avLst/>
            <a:gdLst/>
            <a:ahLst/>
            <a:cxnLst/>
            <a:rect l="l" t="t" r="r" b="b"/>
            <a:pathLst>
              <a:path w="38100" h="1371600">
                <a:moveTo>
                  <a:pt x="0" y="0"/>
                </a:moveTo>
                <a:lnTo>
                  <a:pt x="38100" y="0"/>
                </a:lnTo>
                <a:lnTo>
                  <a:pt x="38100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33" name="Text 31"/>
          <p:cNvSpPr/>
          <p:nvPr/>
        </p:nvSpPr>
        <p:spPr>
          <a:xfrm>
            <a:off x="6353175" y="2428875"/>
            <a:ext cx="533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C8A9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Technologies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380559" y="280035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4546" y="52220"/>
                </a:moveTo>
                <a:cubicBezTo>
                  <a:pt x="112540" y="44172"/>
                  <a:pt x="108738" y="38104"/>
                  <a:pt x="100638" y="38104"/>
                </a:cubicBezTo>
                <a:lnTo>
                  <a:pt x="90194" y="38104"/>
                </a:lnTo>
                <a:lnTo>
                  <a:pt x="90194" y="50449"/>
                </a:lnTo>
                <a:cubicBezTo>
                  <a:pt x="90194" y="60034"/>
                  <a:pt x="82068" y="68107"/>
                  <a:pt x="72796" y="68107"/>
                </a:cubicBezTo>
                <a:lnTo>
                  <a:pt x="44980" y="68107"/>
                </a:lnTo>
                <a:cubicBezTo>
                  <a:pt x="37374" y="68107"/>
                  <a:pt x="31072" y="74619"/>
                  <a:pt x="31072" y="82250"/>
                </a:cubicBezTo>
                <a:lnTo>
                  <a:pt x="31072" y="108764"/>
                </a:lnTo>
                <a:cubicBezTo>
                  <a:pt x="31072" y="116317"/>
                  <a:pt x="37635" y="120744"/>
                  <a:pt x="44980" y="122906"/>
                </a:cubicBezTo>
                <a:cubicBezTo>
                  <a:pt x="53783" y="125484"/>
                  <a:pt x="62247" y="125953"/>
                  <a:pt x="72796" y="122906"/>
                </a:cubicBezTo>
                <a:cubicBezTo>
                  <a:pt x="79802" y="120874"/>
                  <a:pt x="86704" y="116785"/>
                  <a:pt x="86704" y="108764"/>
                </a:cubicBezTo>
                <a:lnTo>
                  <a:pt x="86704" y="98163"/>
                </a:lnTo>
                <a:lnTo>
                  <a:pt x="58914" y="98163"/>
                </a:lnTo>
                <a:lnTo>
                  <a:pt x="58914" y="94621"/>
                </a:lnTo>
                <a:lnTo>
                  <a:pt x="100638" y="94621"/>
                </a:lnTo>
                <a:cubicBezTo>
                  <a:pt x="108738" y="94621"/>
                  <a:pt x="111733" y="88969"/>
                  <a:pt x="114546" y="80505"/>
                </a:cubicBezTo>
                <a:cubicBezTo>
                  <a:pt x="117463" y="71780"/>
                  <a:pt x="117332" y="63393"/>
                  <a:pt x="114546" y="52220"/>
                </a:cubicBezTo>
                <a:close/>
                <a:moveTo>
                  <a:pt x="74541" y="115822"/>
                </a:moveTo>
                <a:cubicBezTo>
                  <a:pt x="72558" y="115961"/>
                  <a:pt x="70664" y="114982"/>
                  <a:pt x="69631" y="113285"/>
                </a:cubicBezTo>
                <a:cubicBezTo>
                  <a:pt x="68597" y="111588"/>
                  <a:pt x="68597" y="109456"/>
                  <a:pt x="69631" y="107758"/>
                </a:cubicBezTo>
                <a:cubicBezTo>
                  <a:pt x="70664" y="106061"/>
                  <a:pt x="72558" y="105082"/>
                  <a:pt x="74541" y="105221"/>
                </a:cubicBezTo>
                <a:cubicBezTo>
                  <a:pt x="76523" y="105082"/>
                  <a:pt x="78417" y="106061"/>
                  <a:pt x="79450" y="107758"/>
                </a:cubicBezTo>
                <a:cubicBezTo>
                  <a:pt x="80484" y="109456"/>
                  <a:pt x="80484" y="111588"/>
                  <a:pt x="79450" y="113285"/>
                </a:cubicBezTo>
                <a:cubicBezTo>
                  <a:pt x="78417" y="114982"/>
                  <a:pt x="76523" y="115961"/>
                  <a:pt x="74541" y="115822"/>
                </a:cubicBezTo>
                <a:close/>
                <a:moveTo>
                  <a:pt x="43703" y="64617"/>
                </a:moveTo>
                <a:lnTo>
                  <a:pt x="71519" y="64617"/>
                </a:lnTo>
                <a:cubicBezTo>
                  <a:pt x="79255" y="64617"/>
                  <a:pt x="85427" y="58236"/>
                  <a:pt x="85427" y="50475"/>
                </a:cubicBezTo>
                <a:lnTo>
                  <a:pt x="85427" y="23935"/>
                </a:lnTo>
                <a:cubicBezTo>
                  <a:pt x="85427" y="16382"/>
                  <a:pt x="79072" y="10731"/>
                  <a:pt x="71519" y="9454"/>
                </a:cubicBezTo>
                <a:cubicBezTo>
                  <a:pt x="62195" y="7918"/>
                  <a:pt x="52064" y="7996"/>
                  <a:pt x="43703" y="9480"/>
                </a:cubicBezTo>
                <a:cubicBezTo>
                  <a:pt x="31931" y="11564"/>
                  <a:pt x="29795" y="15913"/>
                  <a:pt x="29795" y="23961"/>
                </a:cubicBezTo>
                <a:lnTo>
                  <a:pt x="29795" y="34562"/>
                </a:lnTo>
                <a:lnTo>
                  <a:pt x="57637" y="34562"/>
                </a:lnTo>
                <a:lnTo>
                  <a:pt x="57637" y="38104"/>
                </a:lnTo>
                <a:lnTo>
                  <a:pt x="19351" y="38104"/>
                </a:lnTo>
                <a:cubicBezTo>
                  <a:pt x="11251" y="38104"/>
                  <a:pt x="4167" y="42974"/>
                  <a:pt x="1953" y="52220"/>
                </a:cubicBezTo>
                <a:cubicBezTo>
                  <a:pt x="-599" y="62820"/>
                  <a:pt x="-703" y="69436"/>
                  <a:pt x="1953" y="80505"/>
                </a:cubicBezTo>
                <a:cubicBezTo>
                  <a:pt x="3933" y="88735"/>
                  <a:pt x="8647" y="94621"/>
                  <a:pt x="16747" y="94621"/>
                </a:cubicBezTo>
                <a:lnTo>
                  <a:pt x="26305" y="94621"/>
                </a:lnTo>
                <a:lnTo>
                  <a:pt x="26305" y="81911"/>
                </a:lnTo>
                <a:cubicBezTo>
                  <a:pt x="26305" y="72717"/>
                  <a:pt x="34249" y="64617"/>
                  <a:pt x="43703" y="64617"/>
                </a:cubicBezTo>
                <a:close/>
                <a:moveTo>
                  <a:pt x="41984" y="16851"/>
                </a:moveTo>
                <a:cubicBezTo>
                  <a:pt x="44917" y="16851"/>
                  <a:pt x="47298" y="19232"/>
                  <a:pt x="47298" y="22164"/>
                </a:cubicBezTo>
                <a:cubicBezTo>
                  <a:pt x="47298" y="25097"/>
                  <a:pt x="44917" y="27477"/>
                  <a:pt x="41984" y="27477"/>
                </a:cubicBezTo>
                <a:cubicBezTo>
                  <a:pt x="39052" y="27477"/>
                  <a:pt x="36671" y="25097"/>
                  <a:pt x="36671" y="22164"/>
                </a:cubicBezTo>
                <a:cubicBezTo>
                  <a:pt x="36671" y="19232"/>
                  <a:pt x="39052" y="16851"/>
                  <a:pt x="41984" y="16851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35" name="Text 33"/>
          <p:cNvSpPr/>
          <p:nvPr/>
        </p:nvSpPr>
        <p:spPr>
          <a:xfrm>
            <a:off x="6596063" y="2771775"/>
            <a:ext cx="466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Python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9039225" y="28003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33337" y="83344"/>
                </a:moveTo>
                <a:lnTo>
                  <a:pt x="6381" y="83344"/>
                </a:lnTo>
                <a:cubicBezTo>
                  <a:pt x="-104" y="83344"/>
                  <a:pt x="-4089" y="76286"/>
                  <a:pt x="-755" y="70712"/>
                </a:cubicBezTo>
                <a:lnTo>
                  <a:pt x="13022" y="47740"/>
                </a:lnTo>
                <a:cubicBezTo>
                  <a:pt x="15288" y="43964"/>
                  <a:pt x="19351" y="41672"/>
                  <a:pt x="23753" y="41672"/>
                </a:cubicBezTo>
                <a:lnTo>
                  <a:pt x="48496" y="41672"/>
                </a:lnTo>
                <a:cubicBezTo>
                  <a:pt x="68316" y="8100"/>
                  <a:pt x="97877" y="6407"/>
                  <a:pt x="117645" y="9298"/>
                </a:cubicBezTo>
                <a:cubicBezTo>
                  <a:pt x="120979" y="9793"/>
                  <a:pt x="123583" y="12397"/>
                  <a:pt x="124052" y="15705"/>
                </a:cubicBezTo>
                <a:cubicBezTo>
                  <a:pt x="126943" y="35473"/>
                  <a:pt x="125250" y="65034"/>
                  <a:pt x="91678" y="84854"/>
                </a:cubicBezTo>
                <a:lnTo>
                  <a:pt x="91678" y="109597"/>
                </a:lnTo>
                <a:cubicBezTo>
                  <a:pt x="91678" y="113999"/>
                  <a:pt x="89386" y="118062"/>
                  <a:pt x="85610" y="120328"/>
                </a:cubicBezTo>
                <a:lnTo>
                  <a:pt x="62638" y="134105"/>
                </a:lnTo>
                <a:cubicBezTo>
                  <a:pt x="57090" y="137439"/>
                  <a:pt x="50006" y="133428"/>
                  <a:pt x="50006" y="126969"/>
                </a:cubicBezTo>
                <a:lnTo>
                  <a:pt x="50006" y="100013"/>
                </a:lnTo>
                <a:cubicBezTo>
                  <a:pt x="50006" y="90819"/>
                  <a:pt x="42531" y="83344"/>
                  <a:pt x="33337" y="83344"/>
                </a:cubicBezTo>
                <a:lnTo>
                  <a:pt x="33311" y="83344"/>
                </a:lnTo>
                <a:close/>
                <a:moveTo>
                  <a:pt x="104180" y="41672"/>
                </a:moveTo>
                <a:cubicBezTo>
                  <a:pt x="104180" y="34772"/>
                  <a:pt x="98578" y="29170"/>
                  <a:pt x="91678" y="29170"/>
                </a:cubicBezTo>
                <a:cubicBezTo>
                  <a:pt x="84778" y="29170"/>
                  <a:pt x="79177" y="34772"/>
                  <a:pt x="79177" y="41672"/>
                </a:cubicBezTo>
                <a:cubicBezTo>
                  <a:pt x="79177" y="48572"/>
                  <a:pt x="84778" y="54173"/>
                  <a:pt x="91678" y="54173"/>
                </a:cubicBezTo>
                <a:cubicBezTo>
                  <a:pt x="98578" y="54173"/>
                  <a:pt x="104180" y="48572"/>
                  <a:pt x="104180" y="41672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37" name="Text 35"/>
          <p:cNvSpPr/>
          <p:nvPr/>
        </p:nvSpPr>
        <p:spPr>
          <a:xfrm>
            <a:off x="9263063" y="2771775"/>
            <a:ext cx="581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Streamlit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80559" y="306705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0" y="25003"/>
                </a:moveTo>
                <a:cubicBezTo>
                  <a:pt x="0" y="15809"/>
                  <a:pt x="7475" y="8334"/>
                  <a:pt x="16669" y="8334"/>
                </a:cubicBezTo>
                <a:lnTo>
                  <a:pt x="100013" y="8334"/>
                </a:lnTo>
                <a:cubicBezTo>
                  <a:pt x="109206" y="8334"/>
                  <a:pt x="116681" y="15809"/>
                  <a:pt x="116681" y="25003"/>
                </a:cubicBezTo>
                <a:lnTo>
                  <a:pt x="116681" y="108347"/>
                </a:lnTo>
                <a:cubicBezTo>
                  <a:pt x="116681" y="117541"/>
                  <a:pt x="109206" y="125016"/>
                  <a:pt x="100013" y="125016"/>
                </a:cubicBezTo>
                <a:lnTo>
                  <a:pt x="16669" y="125016"/>
                </a:lnTo>
                <a:cubicBezTo>
                  <a:pt x="7475" y="125016"/>
                  <a:pt x="0" y="117541"/>
                  <a:pt x="0" y="108347"/>
                </a:cubicBezTo>
                <a:lnTo>
                  <a:pt x="0" y="25003"/>
                </a:lnTo>
                <a:close/>
                <a:moveTo>
                  <a:pt x="12502" y="95845"/>
                </a:moveTo>
                <a:lnTo>
                  <a:pt x="12502" y="104180"/>
                </a:lnTo>
                <a:cubicBezTo>
                  <a:pt x="12502" y="106472"/>
                  <a:pt x="14377" y="108347"/>
                  <a:pt x="16669" y="108347"/>
                </a:cubicBezTo>
                <a:lnTo>
                  <a:pt x="25003" y="108347"/>
                </a:lnTo>
                <a:cubicBezTo>
                  <a:pt x="27295" y="108347"/>
                  <a:pt x="29170" y="106472"/>
                  <a:pt x="29170" y="104180"/>
                </a:cubicBezTo>
                <a:lnTo>
                  <a:pt x="29170" y="95845"/>
                </a:lnTo>
                <a:cubicBezTo>
                  <a:pt x="29170" y="93553"/>
                  <a:pt x="27295" y="91678"/>
                  <a:pt x="25003" y="91678"/>
                </a:cubicBezTo>
                <a:lnTo>
                  <a:pt x="16669" y="91678"/>
                </a:lnTo>
                <a:cubicBezTo>
                  <a:pt x="14377" y="91678"/>
                  <a:pt x="12502" y="93553"/>
                  <a:pt x="12502" y="95845"/>
                </a:cubicBezTo>
                <a:close/>
                <a:moveTo>
                  <a:pt x="91678" y="91678"/>
                </a:moveTo>
                <a:cubicBezTo>
                  <a:pt x="89386" y="91678"/>
                  <a:pt x="87511" y="93553"/>
                  <a:pt x="87511" y="95845"/>
                </a:cubicBezTo>
                <a:lnTo>
                  <a:pt x="87511" y="104180"/>
                </a:lnTo>
                <a:cubicBezTo>
                  <a:pt x="87511" y="106472"/>
                  <a:pt x="89386" y="108347"/>
                  <a:pt x="91678" y="108347"/>
                </a:cubicBezTo>
                <a:lnTo>
                  <a:pt x="100013" y="108347"/>
                </a:lnTo>
                <a:cubicBezTo>
                  <a:pt x="102304" y="108347"/>
                  <a:pt x="104180" y="106472"/>
                  <a:pt x="104180" y="104180"/>
                </a:cubicBezTo>
                <a:lnTo>
                  <a:pt x="104180" y="95845"/>
                </a:lnTo>
                <a:cubicBezTo>
                  <a:pt x="104180" y="93553"/>
                  <a:pt x="102304" y="91678"/>
                  <a:pt x="100013" y="91678"/>
                </a:cubicBezTo>
                <a:lnTo>
                  <a:pt x="91678" y="91678"/>
                </a:lnTo>
                <a:close/>
                <a:moveTo>
                  <a:pt x="12502" y="62508"/>
                </a:moveTo>
                <a:lnTo>
                  <a:pt x="12502" y="70842"/>
                </a:lnTo>
                <a:cubicBezTo>
                  <a:pt x="12502" y="73134"/>
                  <a:pt x="14377" y="75009"/>
                  <a:pt x="16669" y="75009"/>
                </a:cubicBezTo>
                <a:lnTo>
                  <a:pt x="25003" y="75009"/>
                </a:lnTo>
                <a:cubicBezTo>
                  <a:pt x="27295" y="75009"/>
                  <a:pt x="29170" y="73134"/>
                  <a:pt x="29170" y="70842"/>
                </a:cubicBezTo>
                <a:lnTo>
                  <a:pt x="29170" y="62508"/>
                </a:lnTo>
                <a:cubicBezTo>
                  <a:pt x="29170" y="60216"/>
                  <a:pt x="27295" y="58341"/>
                  <a:pt x="25003" y="58341"/>
                </a:cubicBezTo>
                <a:lnTo>
                  <a:pt x="16669" y="58341"/>
                </a:lnTo>
                <a:cubicBezTo>
                  <a:pt x="14377" y="58341"/>
                  <a:pt x="12502" y="60216"/>
                  <a:pt x="12502" y="62508"/>
                </a:cubicBezTo>
                <a:close/>
                <a:moveTo>
                  <a:pt x="91678" y="58341"/>
                </a:moveTo>
                <a:cubicBezTo>
                  <a:pt x="89386" y="58341"/>
                  <a:pt x="87511" y="60216"/>
                  <a:pt x="87511" y="62508"/>
                </a:cubicBezTo>
                <a:lnTo>
                  <a:pt x="87511" y="70842"/>
                </a:lnTo>
                <a:cubicBezTo>
                  <a:pt x="87511" y="73134"/>
                  <a:pt x="89386" y="75009"/>
                  <a:pt x="91678" y="75009"/>
                </a:cubicBezTo>
                <a:lnTo>
                  <a:pt x="100013" y="75009"/>
                </a:lnTo>
                <a:cubicBezTo>
                  <a:pt x="102304" y="75009"/>
                  <a:pt x="104180" y="73134"/>
                  <a:pt x="104180" y="70842"/>
                </a:cubicBezTo>
                <a:lnTo>
                  <a:pt x="104180" y="62508"/>
                </a:lnTo>
                <a:cubicBezTo>
                  <a:pt x="104180" y="60216"/>
                  <a:pt x="102304" y="58341"/>
                  <a:pt x="100013" y="58341"/>
                </a:cubicBezTo>
                <a:lnTo>
                  <a:pt x="91678" y="58341"/>
                </a:lnTo>
                <a:close/>
                <a:moveTo>
                  <a:pt x="12502" y="29170"/>
                </a:moveTo>
                <a:lnTo>
                  <a:pt x="12502" y="37505"/>
                </a:lnTo>
                <a:cubicBezTo>
                  <a:pt x="12502" y="39797"/>
                  <a:pt x="14377" y="41672"/>
                  <a:pt x="16669" y="41672"/>
                </a:cubicBezTo>
                <a:lnTo>
                  <a:pt x="25003" y="41672"/>
                </a:lnTo>
                <a:cubicBezTo>
                  <a:pt x="27295" y="41672"/>
                  <a:pt x="29170" y="39797"/>
                  <a:pt x="29170" y="37505"/>
                </a:cubicBezTo>
                <a:lnTo>
                  <a:pt x="29170" y="29170"/>
                </a:lnTo>
                <a:cubicBezTo>
                  <a:pt x="29170" y="26878"/>
                  <a:pt x="27295" y="25003"/>
                  <a:pt x="25003" y="25003"/>
                </a:cubicBezTo>
                <a:lnTo>
                  <a:pt x="16669" y="25003"/>
                </a:lnTo>
                <a:cubicBezTo>
                  <a:pt x="14377" y="25003"/>
                  <a:pt x="12502" y="26878"/>
                  <a:pt x="12502" y="29170"/>
                </a:cubicBezTo>
                <a:close/>
                <a:moveTo>
                  <a:pt x="91678" y="25003"/>
                </a:moveTo>
                <a:cubicBezTo>
                  <a:pt x="89386" y="25003"/>
                  <a:pt x="87511" y="26878"/>
                  <a:pt x="87511" y="29170"/>
                </a:cubicBezTo>
                <a:lnTo>
                  <a:pt x="87511" y="37505"/>
                </a:lnTo>
                <a:cubicBezTo>
                  <a:pt x="87511" y="39797"/>
                  <a:pt x="89386" y="41672"/>
                  <a:pt x="91678" y="41672"/>
                </a:cubicBezTo>
                <a:lnTo>
                  <a:pt x="100013" y="41672"/>
                </a:lnTo>
                <a:cubicBezTo>
                  <a:pt x="102304" y="41672"/>
                  <a:pt x="104180" y="39797"/>
                  <a:pt x="104180" y="37505"/>
                </a:cubicBezTo>
                <a:lnTo>
                  <a:pt x="104180" y="29170"/>
                </a:lnTo>
                <a:cubicBezTo>
                  <a:pt x="104180" y="26878"/>
                  <a:pt x="102304" y="25003"/>
                  <a:pt x="100013" y="25003"/>
                </a:cubicBezTo>
                <a:lnTo>
                  <a:pt x="91678" y="25003"/>
                </a:ln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39" name="Text 37"/>
          <p:cNvSpPr/>
          <p:nvPr/>
        </p:nvSpPr>
        <p:spPr>
          <a:xfrm>
            <a:off x="6596063" y="3038475"/>
            <a:ext cx="523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FFmpeg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9039225" y="30670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6669" y="25003"/>
                </a:moveTo>
                <a:cubicBezTo>
                  <a:pt x="16669" y="20393"/>
                  <a:pt x="20393" y="16669"/>
                  <a:pt x="25003" y="16669"/>
                </a:cubicBezTo>
                <a:lnTo>
                  <a:pt x="66675" y="16669"/>
                </a:lnTo>
                <a:cubicBezTo>
                  <a:pt x="71285" y="16669"/>
                  <a:pt x="75009" y="20393"/>
                  <a:pt x="75009" y="25003"/>
                </a:cubicBezTo>
                <a:lnTo>
                  <a:pt x="75009" y="100013"/>
                </a:lnTo>
                <a:lnTo>
                  <a:pt x="100013" y="100013"/>
                </a:lnTo>
                <a:lnTo>
                  <a:pt x="100013" y="66675"/>
                </a:lnTo>
                <a:cubicBezTo>
                  <a:pt x="100013" y="62065"/>
                  <a:pt x="103737" y="58341"/>
                  <a:pt x="108347" y="58341"/>
                </a:cubicBezTo>
                <a:lnTo>
                  <a:pt x="125016" y="58341"/>
                </a:lnTo>
                <a:cubicBezTo>
                  <a:pt x="129626" y="58341"/>
                  <a:pt x="133350" y="62065"/>
                  <a:pt x="133350" y="66675"/>
                </a:cubicBezTo>
                <a:cubicBezTo>
                  <a:pt x="133350" y="71285"/>
                  <a:pt x="129626" y="75009"/>
                  <a:pt x="125016" y="75009"/>
                </a:cubicBezTo>
                <a:lnTo>
                  <a:pt x="116681" y="75009"/>
                </a:lnTo>
                <a:lnTo>
                  <a:pt x="116681" y="108347"/>
                </a:lnTo>
                <a:cubicBezTo>
                  <a:pt x="116681" y="112957"/>
                  <a:pt x="112957" y="116681"/>
                  <a:pt x="108347" y="116681"/>
                </a:cubicBezTo>
                <a:lnTo>
                  <a:pt x="66675" y="116681"/>
                </a:lnTo>
                <a:cubicBezTo>
                  <a:pt x="62065" y="116681"/>
                  <a:pt x="58341" y="112957"/>
                  <a:pt x="58341" y="108347"/>
                </a:cubicBezTo>
                <a:lnTo>
                  <a:pt x="58341" y="33337"/>
                </a:lnTo>
                <a:lnTo>
                  <a:pt x="33337" y="33337"/>
                </a:lnTo>
                <a:lnTo>
                  <a:pt x="33337" y="66675"/>
                </a:lnTo>
                <a:cubicBezTo>
                  <a:pt x="33337" y="71285"/>
                  <a:pt x="29613" y="75009"/>
                  <a:pt x="25003" y="75009"/>
                </a:cubicBezTo>
                <a:lnTo>
                  <a:pt x="8334" y="75009"/>
                </a:lnTo>
                <a:cubicBezTo>
                  <a:pt x="3724" y="75009"/>
                  <a:pt x="0" y="71285"/>
                  <a:pt x="0" y="66675"/>
                </a:cubicBezTo>
                <a:cubicBezTo>
                  <a:pt x="0" y="62065"/>
                  <a:pt x="3724" y="58341"/>
                  <a:pt x="8334" y="58341"/>
                </a:cubicBezTo>
                <a:lnTo>
                  <a:pt x="16669" y="58341"/>
                </a:lnTo>
                <a:lnTo>
                  <a:pt x="16669" y="25003"/>
                </a:ln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41" name="Text 39"/>
          <p:cNvSpPr/>
          <p:nvPr/>
        </p:nvSpPr>
        <p:spPr>
          <a:xfrm>
            <a:off x="9263063" y="3038475"/>
            <a:ext cx="990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pyannote-audio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388894" y="3333750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50006" y="0"/>
                </a:moveTo>
                <a:cubicBezTo>
                  <a:pt x="36202" y="0"/>
                  <a:pt x="25003" y="11199"/>
                  <a:pt x="25003" y="25003"/>
                </a:cubicBezTo>
                <a:lnTo>
                  <a:pt x="25003" y="58341"/>
                </a:lnTo>
                <a:cubicBezTo>
                  <a:pt x="25003" y="72144"/>
                  <a:pt x="36202" y="83344"/>
                  <a:pt x="50006" y="83344"/>
                </a:cubicBezTo>
                <a:cubicBezTo>
                  <a:pt x="63810" y="83344"/>
                  <a:pt x="75009" y="72144"/>
                  <a:pt x="75009" y="58341"/>
                </a:cubicBezTo>
                <a:lnTo>
                  <a:pt x="75009" y="25003"/>
                </a:lnTo>
                <a:cubicBezTo>
                  <a:pt x="75009" y="11199"/>
                  <a:pt x="63810" y="0"/>
                  <a:pt x="50006" y="0"/>
                </a:cubicBezTo>
                <a:close/>
                <a:moveTo>
                  <a:pt x="12502" y="47923"/>
                </a:moveTo>
                <a:cubicBezTo>
                  <a:pt x="12502" y="44459"/>
                  <a:pt x="9715" y="41672"/>
                  <a:pt x="6251" y="41672"/>
                </a:cubicBezTo>
                <a:cubicBezTo>
                  <a:pt x="2787" y="41672"/>
                  <a:pt x="0" y="44459"/>
                  <a:pt x="0" y="47923"/>
                </a:cubicBezTo>
                <a:lnTo>
                  <a:pt x="0" y="58341"/>
                </a:lnTo>
                <a:cubicBezTo>
                  <a:pt x="0" y="83839"/>
                  <a:pt x="19091" y="104883"/>
                  <a:pt x="43755" y="107956"/>
                </a:cubicBezTo>
                <a:lnTo>
                  <a:pt x="43755" y="120848"/>
                </a:lnTo>
                <a:lnTo>
                  <a:pt x="31254" y="120848"/>
                </a:lnTo>
                <a:cubicBezTo>
                  <a:pt x="27790" y="120848"/>
                  <a:pt x="25003" y="123635"/>
                  <a:pt x="25003" y="127099"/>
                </a:cubicBezTo>
                <a:cubicBezTo>
                  <a:pt x="25003" y="130563"/>
                  <a:pt x="27790" y="133350"/>
                  <a:pt x="31254" y="133350"/>
                </a:cubicBezTo>
                <a:lnTo>
                  <a:pt x="68759" y="133350"/>
                </a:lnTo>
                <a:cubicBezTo>
                  <a:pt x="72223" y="133350"/>
                  <a:pt x="75009" y="130563"/>
                  <a:pt x="75009" y="127099"/>
                </a:cubicBezTo>
                <a:cubicBezTo>
                  <a:pt x="75009" y="123635"/>
                  <a:pt x="72223" y="120848"/>
                  <a:pt x="68759" y="120848"/>
                </a:cubicBezTo>
                <a:lnTo>
                  <a:pt x="56257" y="120848"/>
                </a:lnTo>
                <a:lnTo>
                  <a:pt x="56257" y="107956"/>
                </a:lnTo>
                <a:cubicBezTo>
                  <a:pt x="80922" y="104883"/>
                  <a:pt x="100013" y="83839"/>
                  <a:pt x="100013" y="58341"/>
                </a:cubicBezTo>
                <a:lnTo>
                  <a:pt x="100013" y="47923"/>
                </a:lnTo>
                <a:cubicBezTo>
                  <a:pt x="100013" y="44459"/>
                  <a:pt x="97226" y="41672"/>
                  <a:pt x="93762" y="41672"/>
                </a:cubicBezTo>
                <a:cubicBezTo>
                  <a:pt x="90298" y="41672"/>
                  <a:pt x="87511" y="44459"/>
                  <a:pt x="87511" y="47923"/>
                </a:cubicBezTo>
                <a:lnTo>
                  <a:pt x="87511" y="58341"/>
                </a:lnTo>
                <a:cubicBezTo>
                  <a:pt x="87511" y="79046"/>
                  <a:pt x="70712" y="95845"/>
                  <a:pt x="50006" y="95845"/>
                </a:cubicBezTo>
                <a:cubicBezTo>
                  <a:pt x="29301" y="95845"/>
                  <a:pt x="12502" y="79046"/>
                  <a:pt x="12502" y="58341"/>
                </a:cubicBezTo>
                <a:lnTo>
                  <a:pt x="12502" y="47923"/>
                </a:ln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43" name="Text 41"/>
          <p:cNvSpPr/>
          <p:nvPr/>
        </p:nvSpPr>
        <p:spPr>
          <a:xfrm>
            <a:off x="6596063" y="3305175"/>
            <a:ext cx="914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faster-whisper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9039225" y="33337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0"/>
                </a:moveTo>
                <a:cubicBezTo>
                  <a:pt x="103474" y="0"/>
                  <a:pt x="133350" y="29876"/>
                  <a:pt x="133350" y="66675"/>
                </a:cubicBezTo>
                <a:cubicBezTo>
                  <a:pt x="133350" y="103474"/>
                  <a:pt x="103474" y="133350"/>
                  <a:pt x="66675" y="133350"/>
                </a:cubicBezTo>
                <a:cubicBezTo>
                  <a:pt x="29876" y="133350"/>
                  <a:pt x="0" y="103474"/>
                  <a:pt x="0" y="66675"/>
                </a:cubicBezTo>
                <a:cubicBezTo>
                  <a:pt x="0" y="29876"/>
                  <a:pt x="29876" y="0"/>
                  <a:pt x="66675" y="0"/>
                </a:cubicBezTo>
                <a:close/>
                <a:moveTo>
                  <a:pt x="60424" y="31254"/>
                </a:moveTo>
                <a:lnTo>
                  <a:pt x="60424" y="66675"/>
                </a:lnTo>
                <a:cubicBezTo>
                  <a:pt x="60424" y="68759"/>
                  <a:pt x="61466" y="70712"/>
                  <a:pt x="63211" y="71884"/>
                </a:cubicBezTo>
                <a:lnTo>
                  <a:pt x="88214" y="88553"/>
                </a:lnTo>
                <a:cubicBezTo>
                  <a:pt x="91079" y="90480"/>
                  <a:pt x="94960" y="89699"/>
                  <a:pt x="96887" y="86808"/>
                </a:cubicBezTo>
                <a:cubicBezTo>
                  <a:pt x="98814" y="83917"/>
                  <a:pt x="98033" y="80062"/>
                  <a:pt x="95142" y="78135"/>
                </a:cubicBezTo>
                <a:lnTo>
                  <a:pt x="72926" y="63341"/>
                </a:lnTo>
                <a:lnTo>
                  <a:pt x="72926" y="31254"/>
                </a:lnTo>
                <a:cubicBezTo>
                  <a:pt x="72926" y="27790"/>
                  <a:pt x="70139" y="25003"/>
                  <a:pt x="66675" y="25003"/>
                </a:cubicBezTo>
                <a:cubicBezTo>
                  <a:pt x="63211" y="25003"/>
                  <a:pt x="60424" y="27790"/>
                  <a:pt x="60424" y="31254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45" name="Text 43"/>
          <p:cNvSpPr/>
          <p:nvPr/>
        </p:nvSpPr>
        <p:spPr>
          <a:xfrm>
            <a:off x="9263063" y="3305175"/>
            <a:ext cx="752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rubberband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181725" y="3762375"/>
            <a:ext cx="5581650" cy="1104900"/>
          </a:xfrm>
          <a:custGeom>
            <a:avLst/>
            <a:gdLst/>
            <a:ahLst/>
            <a:cxnLst/>
            <a:rect l="l" t="t" r="r" b="b"/>
            <a:pathLst>
              <a:path w="5581650" h="1104900">
                <a:moveTo>
                  <a:pt x="0" y="0"/>
                </a:moveTo>
                <a:lnTo>
                  <a:pt x="5505445" y="0"/>
                </a:lnTo>
                <a:cubicBezTo>
                  <a:pt x="5547532" y="0"/>
                  <a:pt x="5581650" y="34118"/>
                  <a:pt x="5581650" y="76205"/>
                </a:cubicBezTo>
                <a:lnTo>
                  <a:pt x="5581650" y="1028695"/>
                </a:lnTo>
                <a:cubicBezTo>
                  <a:pt x="5581650" y="1070782"/>
                  <a:pt x="5547532" y="1104900"/>
                  <a:pt x="5505445" y="1104900"/>
                </a:cubicBezTo>
                <a:lnTo>
                  <a:pt x="0" y="1104900"/>
                </a:lnTo>
                <a:lnTo>
                  <a:pt x="0" y="0"/>
                </a:lnTo>
                <a:close/>
              </a:path>
            </a:pathLst>
          </a:custGeom>
          <a:solidFill>
            <a:srgbClr val="4A6D8C">
              <a:alpha val="10196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181725" y="3762375"/>
            <a:ext cx="38100" cy="1104900"/>
          </a:xfrm>
          <a:custGeom>
            <a:avLst/>
            <a:gdLst/>
            <a:ahLst/>
            <a:cxnLst/>
            <a:rect l="l" t="t" r="r" b="b"/>
            <a:pathLst>
              <a:path w="38100" h="1104900">
                <a:moveTo>
                  <a:pt x="0" y="0"/>
                </a:moveTo>
                <a:lnTo>
                  <a:pt x="38100" y="0"/>
                </a:lnTo>
                <a:lnTo>
                  <a:pt x="38100" y="1104900"/>
                </a:lnTo>
                <a:lnTo>
                  <a:pt x="0" y="1104900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48" name="Text 46"/>
          <p:cNvSpPr/>
          <p:nvPr/>
        </p:nvSpPr>
        <p:spPr>
          <a:xfrm>
            <a:off x="6353175" y="3914775"/>
            <a:ext cx="533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C8A9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 &amp; API Services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380559" y="428625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6669" y="8334"/>
                </a:moveTo>
                <a:cubicBezTo>
                  <a:pt x="7475" y="8334"/>
                  <a:pt x="0" y="15809"/>
                  <a:pt x="0" y="25003"/>
                </a:cubicBezTo>
                <a:lnTo>
                  <a:pt x="0" y="41672"/>
                </a:lnTo>
                <a:cubicBezTo>
                  <a:pt x="0" y="50866"/>
                  <a:pt x="7475" y="58341"/>
                  <a:pt x="16669" y="58341"/>
                </a:cubicBezTo>
                <a:lnTo>
                  <a:pt x="100013" y="58341"/>
                </a:lnTo>
                <a:cubicBezTo>
                  <a:pt x="109206" y="58341"/>
                  <a:pt x="116681" y="50866"/>
                  <a:pt x="116681" y="41672"/>
                </a:cubicBezTo>
                <a:lnTo>
                  <a:pt x="116681" y="25003"/>
                </a:lnTo>
                <a:cubicBezTo>
                  <a:pt x="116681" y="15809"/>
                  <a:pt x="109206" y="8334"/>
                  <a:pt x="100013" y="8334"/>
                </a:cubicBezTo>
                <a:lnTo>
                  <a:pt x="16669" y="8334"/>
                </a:lnTo>
                <a:close/>
                <a:moveTo>
                  <a:pt x="72926" y="27087"/>
                </a:moveTo>
                <a:cubicBezTo>
                  <a:pt x="76376" y="27087"/>
                  <a:pt x="79177" y="29888"/>
                  <a:pt x="79177" y="33337"/>
                </a:cubicBezTo>
                <a:cubicBezTo>
                  <a:pt x="79177" y="36787"/>
                  <a:pt x="76376" y="39588"/>
                  <a:pt x="72926" y="39588"/>
                </a:cubicBezTo>
                <a:cubicBezTo>
                  <a:pt x="69476" y="39588"/>
                  <a:pt x="66675" y="36787"/>
                  <a:pt x="66675" y="33337"/>
                </a:cubicBezTo>
                <a:cubicBezTo>
                  <a:pt x="66675" y="29888"/>
                  <a:pt x="69476" y="27087"/>
                  <a:pt x="72926" y="27087"/>
                </a:cubicBezTo>
                <a:close/>
                <a:moveTo>
                  <a:pt x="87511" y="33337"/>
                </a:moveTo>
                <a:cubicBezTo>
                  <a:pt x="87511" y="29888"/>
                  <a:pt x="90312" y="27087"/>
                  <a:pt x="93762" y="27087"/>
                </a:cubicBezTo>
                <a:cubicBezTo>
                  <a:pt x="97212" y="27087"/>
                  <a:pt x="100013" y="29888"/>
                  <a:pt x="100013" y="33337"/>
                </a:cubicBezTo>
                <a:cubicBezTo>
                  <a:pt x="100013" y="36787"/>
                  <a:pt x="97212" y="39588"/>
                  <a:pt x="93762" y="39588"/>
                </a:cubicBezTo>
                <a:cubicBezTo>
                  <a:pt x="90312" y="39588"/>
                  <a:pt x="87511" y="36787"/>
                  <a:pt x="87511" y="33337"/>
                </a:cubicBezTo>
                <a:close/>
                <a:moveTo>
                  <a:pt x="16669" y="75009"/>
                </a:moveTo>
                <a:cubicBezTo>
                  <a:pt x="7475" y="75009"/>
                  <a:pt x="0" y="82484"/>
                  <a:pt x="0" y="91678"/>
                </a:cubicBezTo>
                <a:lnTo>
                  <a:pt x="0" y="108347"/>
                </a:lnTo>
                <a:cubicBezTo>
                  <a:pt x="0" y="117541"/>
                  <a:pt x="7475" y="125016"/>
                  <a:pt x="16669" y="125016"/>
                </a:cubicBezTo>
                <a:lnTo>
                  <a:pt x="100013" y="125016"/>
                </a:lnTo>
                <a:cubicBezTo>
                  <a:pt x="109206" y="125016"/>
                  <a:pt x="116681" y="117541"/>
                  <a:pt x="116681" y="108347"/>
                </a:cubicBezTo>
                <a:lnTo>
                  <a:pt x="116681" y="91678"/>
                </a:lnTo>
                <a:cubicBezTo>
                  <a:pt x="116681" y="82484"/>
                  <a:pt x="109206" y="75009"/>
                  <a:pt x="100013" y="75009"/>
                </a:cubicBezTo>
                <a:lnTo>
                  <a:pt x="16669" y="75009"/>
                </a:lnTo>
                <a:close/>
                <a:moveTo>
                  <a:pt x="72926" y="93762"/>
                </a:moveTo>
                <a:cubicBezTo>
                  <a:pt x="76376" y="93762"/>
                  <a:pt x="79177" y="96563"/>
                  <a:pt x="79177" y="100013"/>
                </a:cubicBezTo>
                <a:cubicBezTo>
                  <a:pt x="79177" y="103462"/>
                  <a:pt x="76376" y="106263"/>
                  <a:pt x="72926" y="106263"/>
                </a:cubicBezTo>
                <a:cubicBezTo>
                  <a:pt x="69476" y="106263"/>
                  <a:pt x="66675" y="103462"/>
                  <a:pt x="66675" y="100013"/>
                </a:cubicBezTo>
                <a:cubicBezTo>
                  <a:pt x="66675" y="96563"/>
                  <a:pt x="69476" y="93762"/>
                  <a:pt x="72926" y="93762"/>
                </a:cubicBezTo>
                <a:close/>
                <a:moveTo>
                  <a:pt x="87511" y="100013"/>
                </a:moveTo>
                <a:cubicBezTo>
                  <a:pt x="87511" y="96563"/>
                  <a:pt x="90312" y="93762"/>
                  <a:pt x="93762" y="93762"/>
                </a:cubicBezTo>
                <a:cubicBezTo>
                  <a:pt x="97212" y="93762"/>
                  <a:pt x="100013" y="96563"/>
                  <a:pt x="100013" y="100013"/>
                </a:cubicBezTo>
                <a:cubicBezTo>
                  <a:pt x="100013" y="103462"/>
                  <a:pt x="97212" y="106263"/>
                  <a:pt x="93762" y="106263"/>
                </a:cubicBezTo>
                <a:cubicBezTo>
                  <a:pt x="90312" y="106263"/>
                  <a:pt x="87511" y="103462"/>
                  <a:pt x="87511" y="100013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50" name="Text 48"/>
          <p:cNvSpPr/>
          <p:nvPr/>
        </p:nvSpPr>
        <p:spPr>
          <a:xfrm>
            <a:off x="6596063" y="4257675"/>
            <a:ext cx="114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RunPod Serverless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9030891" y="4286250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41672" y="0"/>
                </a:moveTo>
                <a:cubicBezTo>
                  <a:pt x="46282" y="0"/>
                  <a:pt x="50006" y="3724"/>
                  <a:pt x="50006" y="8334"/>
                </a:cubicBezTo>
                <a:lnTo>
                  <a:pt x="50006" y="16669"/>
                </a:lnTo>
                <a:lnTo>
                  <a:pt x="83344" y="16669"/>
                </a:lnTo>
                <a:cubicBezTo>
                  <a:pt x="87954" y="16669"/>
                  <a:pt x="91678" y="20393"/>
                  <a:pt x="91678" y="25003"/>
                </a:cubicBezTo>
                <a:cubicBezTo>
                  <a:pt x="91678" y="29613"/>
                  <a:pt x="87954" y="33337"/>
                  <a:pt x="83344" y="33337"/>
                </a:cubicBezTo>
                <a:lnTo>
                  <a:pt x="80843" y="33337"/>
                </a:lnTo>
                <a:lnTo>
                  <a:pt x="78656" y="39354"/>
                </a:lnTo>
                <a:cubicBezTo>
                  <a:pt x="74384" y="51126"/>
                  <a:pt x="67951" y="61883"/>
                  <a:pt x="59851" y="71129"/>
                </a:cubicBezTo>
                <a:cubicBezTo>
                  <a:pt x="63550" y="73421"/>
                  <a:pt x="67404" y="75452"/>
                  <a:pt x="71415" y="77249"/>
                </a:cubicBezTo>
                <a:lnTo>
                  <a:pt x="84542" y="83083"/>
                </a:lnTo>
                <a:lnTo>
                  <a:pt x="100742" y="46620"/>
                </a:lnTo>
                <a:cubicBezTo>
                  <a:pt x="102070" y="43599"/>
                  <a:pt x="105065" y="41672"/>
                  <a:pt x="108347" y="41672"/>
                </a:cubicBezTo>
                <a:cubicBezTo>
                  <a:pt x="111629" y="41672"/>
                  <a:pt x="114624" y="43599"/>
                  <a:pt x="115952" y="46620"/>
                </a:cubicBezTo>
                <a:lnTo>
                  <a:pt x="149289" y="121630"/>
                </a:lnTo>
                <a:cubicBezTo>
                  <a:pt x="151165" y="125849"/>
                  <a:pt x="149263" y="130772"/>
                  <a:pt x="145070" y="132621"/>
                </a:cubicBezTo>
                <a:cubicBezTo>
                  <a:pt x="140877" y="134470"/>
                  <a:pt x="135928" y="132595"/>
                  <a:pt x="134079" y="128401"/>
                </a:cubicBezTo>
                <a:lnTo>
                  <a:pt x="128870" y="116681"/>
                </a:lnTo>
                <a:lnTo>
                  <a:pt x="87850" y="116681"/>
                </a:lnTo>
                <a:lnTo>
                  <a:pt x="82641" y="128401"/>
                </a:lnTo>
                <a:cubicBezTo>
                  <a:pt x="80765" y="132621"/>
                  <a:pt x="75843" y="134496"/>
                  <a:pt x="71650" y="132621"/>
                </a:cubicBezTo>
                <a:cubicBezTo>
                  <a:pt x="67456" y="130746"/>
                  <a:pt x="65555" y="125823"/>
                  <a:pt x="67430" y="121630"/>
                </a:cubicBezTo>
                <a:lnTo>
                  <a:pt x="77796" y="98320"/>
                </a:lnTo>
                <a:lnTo>
                  <a:pt x="64670" y="92486"/>
                </a:lnTo>
                <a:cubicBezTo>
                  <a:pt x="58679" y="89829"/>
                  <a:pt x="52949" y="86651"/>
                  <a:pt x="47532" y="83005"/>
                </a:cubicBezTo>
                <a:cubicBezTo>
                  <a:pt x="41984" y="87485"/>
                  <a:pt x="35916" y="91392"/>
                  <a:pt x="29431" y="94647"/>
                </a:cubicBezTo>
                <a:lnTo>
                  <a:pt x="20393" y="99127"/>
                </a:lnTo>
                <a:cubicBezTo>
                  <a:pt x="16278" y="101185"/>
                  <a:pt x="11277" y="99518"/>
                  <a:pt x="9220" y="95403"/>
                </a:cubicBezTo>
                <a:cubicBezTo>
                  <a:pt x="7162" y="91287"/>
                  <a:pt x="8829" y="86287"/>
                  <a:pt x="12944" y="84229"/>
                </a:cubicBezTo>
                <a:lnTo>
                  <a:pt x="21930" y="79724"/>
                </a:lnTo>
                <a:cubicBezTo>
                  <a:pt x="26175" y="77588"/>
                  <a:pt x="30212" y="75114"/>
                  <a:pt x="34015" y="72353"/>
                </a:cubicBezTo>
                <a:cubicBezTo>
                  <a:pt x="30420" y="69045"/>
                  <a:pt x="27035" y="65477"/>
                  <a:pt x="23883" y="61700"/>
                </a:cubicBezTo>
                <a:lnTo>
                  <a:pt x="21253" y="58523"/>
                </a:lnTo>
                <a:cubicBezTo>
                  <a:pt x="18310" y="54981"/>
                  <a:pt x="18778" y="49720"/>
                  <a:pt x="22320" y="46777"/>
                </a:cubicBezTo>
                <a:cubicBezTo>
                  <a:pt x="25863" y="43834"/>
                  <a:pt x="31124" y="44302"/>
                  <a:pt x="34067" y="47845"/>
                </a:cubicBezTo>
                <a:lnTo>
                  <a:pt x="36723" y="51022"/>
                </a:lnTo>
                <a:cubicBezTo>
                  <a:pt x="39719" y="54642"/>
                  <a:pt x="43000" y="58002"/>
                  <a:pt x="46464" y="61101"/>
                </a:cubicBezTo>
                <a:cubicBezTo>
                  <a:pt x="53626" y="53184"/>
                  <a:pt x="59278" y="43886"/>
                  <a:pt x="63003" y="33650"/>
                </a:cubicBezTo>
                <a:lnTo>
                  <a:pt x="63133" y="33337"/>
                </a:lnTo>
                <a:lnTo>
                  <a:pt x="8360" y="33337"/>
                </a:lnTo>
                <a:cubicBezTo>
                  <a:pt x="3724" y="33337"/>
                  <a:pt x="0" y="29613"/>
                  <a:pt x="0" y="25003"/>
                </a:cubicBezTo>
                <a:cubicBezTo>
                  <a:pt x="0" y="20393"/>
                  <a:pt x="3724" y="16669"/>
                  <a:pt x="8334" y="16669"/>
                </a:cubicBezTo>
                <a:lnTo>
                  <a:pt x="33337" y="16669"/>
                </a:lnTo>
                <a:lnTo>
                  <a:pt x="33337" y="8334"/>
                </a:lnTo>
                <a:cubicBezTo>
                  <a:pt x="33337" y="3724"/>
                  <a:pt x="37062" y="0"/>
                  <a:pt x="41672" y="0"/>
                </a:cubicBezTo>
                <a:close/>
                <a:moveTo>
                  <a:pt x="108347" y="70530"/>
                </a:moveTo>
                <a:lnTo>
                  <a:pt x="95246" y="100013"/>
                </a:lnTo>
                <a:lnTo>
                  <a:pt x="121447" y="100013"/>
                </a:lnTo>
                <a:lnTo>
                  <a:pt x="108347" y="70530"/>
                </a:ln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52" name="Text 50"/>
          <p:cNvSpPr/>
          <p:nvPr/>
        </p:nvSpPr>
        <p:spPr>
          <a:xfrm>
            <a:off x="9263063" y="4257675"/>
            <a:ext cx="666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DeepL API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372225" y="45529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31254" y="14585"/>
                </a:moveTo>
                <a:cubicBezTo>
                  <a:pt x="31254" y="6537"/>
                  <a:pt x="37791" y="0"/>
                  <a:pt x="45839" y="0"/>
                </a:cubicBezTo>
                <a:lnTo>
                  <a:pt x="52090" y="0"/>
                </a:lnTo>
                <a:cubicBezTo>
                  <a:pt x="56700" y="0"/>
                  <a:pt x="60424" y="3724"/>
                  <a:pt x="60424" y="8334"/>
                </a:cubicBezTo>
                <a:lnTo>
                  <a:pt x="60424" y="125016"/>
                </a:lnTo>
                <a:cubicBezTo>
                  <a:pt x="60424" y="129626"/>
                  <a:pt x="56700" y="133350"/>
                  <a:pt x="52090" y="133350"/>
                </a:cubicBezTo>
                <a:lnTo>
                  <a:pt x="43755" y="133350"/>
                </a:lnTo>
                <a:cubicBezTo>
                  <a:pt x="35994" y="133350"/>
                  <a:pt x="29457" y="128037"/>
                  <a:pt x="27608" y="120848"/>
                </a:cubicBezTo>
                <a:cubicBezTo>
                  <a:pt x="27425" y="120848"/>
                  <a:pt x="27269" y="120848"/>
                  <a:pt x="27087" y="120848"/>
                </a:cubicBezTo>
                <a:cubicBezTo>
                  <a:pt x="15575" y="120848"/>
                  <a:pt x="6251" y="111524"/>
                  <a:pt x="6251" y="100013"/>
                </a:cubicBezTo>
                <a:cubicBezTo>
                  <a:pt x="6251" y="95324"/>
                  <a:pt x="7813" y="91001"/>
                  <a:pt x="10418" y="87511"/>
                </a:cubicBezTo>
                <a:cubicBezTo>
                  <a:pt x="5365" y="83708"/>
                  <a:pt x="2084" y="77666"/>
                  <a:pt x="2084" y="70842"/>
                </a:cubicBezTo>
                <a:cubicBezTo>
                  <a:pt x="2084" y="62794"/>
                  <a:pt x="6668" y="55788"/>
                  <a:pt x="13335" y="52324"/>
                </a:cubicBezTo>
                <a:cubicBezTo>
                  <a:pt x="11486" y="49199"/>
                  <a:pt x="10418" y="45553"/>
                  <a:pt x="10418" y="41672"/>
                </a:cubicBezTo>
                <a:cubicBezTo>
                  <a:pt x="10418" y="30160"/>
                  <a:pt x="19742" y="20836"/>
                  <a:pt x="31254" y="20836"/>
                </a:cubicBezTo>
                <a:lnTo>
                  <a:pt x="31254" y="14585"/>
                </a:lnTo>
                <a:close/>
                <a:moveTo>
                  <a:pt x="102096" y="14585"/>
                </a:moveTo>
                <a:lnTo>
                  <a:pt x="102096" y="20836"/>
                </a:lnTo>
                <a:cubicBezTo>
                  <a:pt x="113608" y="20836"/>
                  <a:pt x="122932" y="30160"/>
                  <a:pt x="122932" y="41672"/>
                </a:cubicBezTo>
                <a:cubicBezTo>
                  <a:pt x="122932" y="45579"/>
                  <a:pt x="121864" y="49225"/>
                  <a:pt x="120015" y="52324"/>
                </a:cubicBezTo>
                <a:cubicBezTo>
                  <a:pt x="126709" y="55788"/>
                  <a:pt x="131266" y="62768"/>
                  <a:pt x="131266" y="70842"/>
                </a:cubicBezTo>
                <a:cubicBezTo>
                  <a:pt x="131266" y="77666"/>
                  <a:pt x="127985" y="83708"/>
                  <a:pt x="122932" y="87511"/>
                </a:cubicBezTo>
                <a:cubicBezTo>
                  <a:pt x="125537" y="91001"/>
                  <a:pt x="127099" y="95324"/>
                  <a:pt x="127099" y="100013"/>
                </a:cubicBezTo>
                <a:cubicBezTo>
                  <a:pt x="127099" y="111524"/>
                  <a:pt x="117775" y="120848"/>
                  <a:pt x="106263" y="120848"/>
                </a:cubicBezTo>
                <a:cubicBezTo>
                  <a:pt x="106081" y="120848"/>
                  <a:pt x="105925" y="120848"/>
                  <a:pt x="105742" y="120848"/>
                </a:cubicBezTo>
                <a:cubicBezTo>
                  <a:pt x="103893" y="128037"/>
                  <a:pt x="97356" y="133350"/>
                  <a:pt x="89595" y="133350"/>
                </a:cubicBezTo>
                <a:lnTo>
                  <a:pt x="81260" y="133350"/>
                </a:lnTo>
                <a:cubicBezTo>
                  <a:pt x="76650" y="133350"/>
                  <a:pt x="72926" y="129626"/>
                  <a:pt x="72926" y="125016"/>
                </a:cubicBezTo>
                <a:lnTo>
                  <a:pt x="72926" y="8334"/>
                </a:lnTo>
                <a:cubicBezTo>
                  <a:pt x="72926" y="3724"/>
                  <a:pt x="76650" y="0"/>
                  <a:pt x="81260" y="0"/>
                </a:cubicBezTo>
                <a:lnTo>
                  <a:pt x="87511" y="0"/>
                </a:lnTo>
                <a:cubicBezTo>
                  <a:pt x="95559" y="0"/>
                  <a:pt x="102096" y="6537"/>
                  <a:pt x="102096" y="14585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54" name="Text 52"/>
          <p:cNvSpPr/>
          <p:nvPr/>
        </p:nvSpPr>
        <p:spPr>
          <a:xfrm>
            <a:off x="6596063" y="4524375"/>
            <a:ext cx="1133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Google Gemini API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9039225" y="45529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3350" y="62508"/>
                </a:moveTo>
                <a:cubicBezTo>
                  <a:pt x="133350" y="97017"/>
                  <a:pt x="103503" y="125016"/>
                  <a:pt x="66675" y="125016"/>
                </a:cubicBezTo>
                <a:cubicBezTo>
                  <a:pt x="57012" y="125016"/>
                  <a:pt x="47845" y="123088"/>
                  <a:pt x="39562" y="119624"/>
                </a:cubicBezTo>
                <a:lnTo>
                  <a:pt x="8725" y="132855"/>
                </a:lnTo>
                <a:cubicBezTo>
                  <a:pt x="6277" y="133897"/>
                  <a:pt x="3464" y="133298"/>
                  <a:pt x="1667" y="131345"/>
                </a:cubicBezTo>
                <a:cubicBezTo>
                  <a:pt x="-130" y="129391"/>
                  <a:pt x="-521" y="126526"/>
                  <a:pt x="729" y="124182"/>
                </a:cubicBezTo>
                <a:lnTo>
                  <a:pt x="13439" y="100169"/>
                </a:lnTo>
                <a:cubicBezTo>
                  <a:pt x="5001" y="89673"/>
                  <a:pt x="0" y="76650"/>
                  <a:pt x="0" y="62508"/>
                </a:cubicBezTo>
                <a:cubicBezTo>
                  <a:pt x="0" y="27998"/>
                  <a:pt x="29847" y="0"/>
                  <a:pt x="66675" y="0"/>
                </a:cubicBezTo>
                <a:cubicBezTo>
                  <a:pt x="103503" y="0"/>
                  <a:pt x="133350" y="27998"/>
                  <a:pt x="133350" y="62508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56" name="Text 54"/>
          <p:cNvSpPr/>
          <p:nvPr/>
        </p:nvSpPr>
        <p:spPr>
          <a:xfrm>
            <a:off x="9263063" y="4524375"/>
            <a:ext cx="1133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Mistral Voxtral API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181725" y="4981575"/>
            <a:ext cx="5581650" cy="838200"/>
          </a:xfrm>
          <a:custGeom>
            <a:avLst/>
            <a:gdLst/>
            <a:ahLst/>
            <a:cxnLst/>
            <a:rect l="l" t="t" r="r" b="b"/>
            <a:pathLst>
              <a:path w="5581650" h="838200">
                <a:moveTo>
                  <a:pt x="0" y="0"/>
                </a:moveTo>
                <a:lnTo>
                  <a:pt x="5505449" y="0"/>
                </a:lnTo>
                <a:cubicBezTo>
                  <a:pt x="5547534" y="0"/>
                  <a:pt x="5581650" y="34116"/>
                  <a:pt x="5581650" y="76201"/>
                </a:cubicBezTo>
                <a:lnTo>
                  <a:pt x="5581650" y="761999"/>
                </a:lnTo>
                <a:cubicBezTo>
                  <a:pt x="5581650" y="804084"/>
                  <a:pt x="5547534" y="838200"/>
                  <a:pt x="5505449" y="838200"/>
                </a:cubicBezTo>
                <a:lnTo>
                  <a:pt x="0" y="838200"/>
                </a:lnTo>
                <a:lnTo>
                  <a:pt x="0" y="0"/>
                </a:lnTo>
                <a:close/>
              </a:path>
            </a:pathLst>
          </a:custGeom>
          <a:solidFill>
            <a:srgbClr val="4A6D8C">
              <a:alpha val="10196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6181725" y="4981575"/>
            <a:ext cx="38100" cy="838200"/>
          </a:xfrm>
          <a:custGeom>
            <a:avLst/>
            <a:gdLst/>
            <a:ahLst/>
            <a:cxnLst/>
            <a:rect l="l" t="t" r="r" b="b"/>
            <a:pathLst>
              <a:path w="38100" h="838200">
                <a:moveTo>
                  <a:pt x="0" y="0"/>
                </a:moveTo>
                <a:lnTo>
                  <a:pt x="38100" y="0"/>
                </a:lnTo>
                <a:lnTo>
                  <a:pt x="38100" y="838200"/>
                </a:lnTo>
                <a:lnTo>
                  <a:pt x="0" y="838200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59" name="Text 57"/>
          <p:cNvSpPr/>
          <p:nvPr/>
        </p:nvSpPr>
        <p:spPr>
          <a:xfrm>
            <a:off x="6353175" y="5133975"/>
            <a:ext cx="533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C8A9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AI/ML Models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355556" y="5505450"/>
            <a:ext cx="166688" cy="133350"/>
          </a:xfrm>
          <a:custGeom>
            <a:avLst/>
            <a:gdLst/>
            <a:ahLst/>
            <a:cxnLst/>
            <a:rect l="l" t="t" r="r" b="b"/>
            <a:pathLst>
              <a:path w="166688" h="133350">
                <a:moveTo>
                  <a:pt x="91678" y="0"/>
                </a:moveTo>
                <a:cubicBezTo>
                  <a:pt x="91678" y="-4610"/>
                  <a:pt x="87954" y="-8334"/>
                  <a:pt x="83344" y="-8334"/>
                </a:cubicBezTo>
                <a:cubicBezTo>
                  <a:pt x="78734" y="-8334"/>
                  <a:pt x="75009" y="-4610"/>
                  <a:pt x="75009" y="0"/>
                </a:cubicBezTo>
                <a:lnTo>
                  <a:pt x="75009" y="16669"/>
                </a:lnTo>
                <a:lnTo>
                  <a:pt x="50006" y="16669"/>
                </a:lnTo>
                <a:cubicBezTo>
                  <a:pt x="36202" y="16669"/>
                  <a:pt x="25003" y="27868"/>
                  <a:pt x="25003" y="41672"/>
                </a:cubicBezTo>
                <a:lnTo>
                  <a:pt x="25003" y="100013"/>
                </a:lnTo>
                <a:cubicBezTo>
                  <a:pt x="25003" y="113816"/>
                  <a:pt x="36202" y="125016"/>
                  <a:pt x="50006" y="125016"/>
                </a:cubicBezTo>
                <a:lnTo>
                  <a:pt x="116681" y="125016"/>
                </a:lnTo>
                <a:cubicBezTo>
                  <a:pt x="130485" y="125016"/>
                  <a:pt x="141684" y="113816"/>
                  <a:pt x="141684" y="100013"/>
                </a:cubicBezTo>
                <a:lnTo>
                  <a:pt x="141684" y="41672"/>
                </a:lnTo>
                <a:cubicBezTo>
                  <a:pt x="141684" y="27868"/>
                  <a:pt x="130485" y="16669"/>
                  <a:pt x="116681" y="16669"/>
                </a:cubicBezTo>
                <a:lnTo>
                  <a:pt x="91678" y="16669"/>
                </a:lnTo>
                <a:lnTo>
                  <a:pt x="91678" y="0"/>
                </a:lnTo>
                <a:close/>
                <a:moveTo>
                  <a:pt x="41672" y="95845"/>
                </a:moveTo>
                <a:cubicBezTo>
                  <a:pt x="41672" y="92381"/>
                  <a:pt x="44459" y="89595"/>
                  <a:pt x="47923" y="89595"/>
                </a:cubicBezTo>
                <a:lnTo>
                  <a:pt x="56257" y="89595"/>
                </a:lnTo>
                <a:cubicBezTo>
                  <a:pt x="59721" y="89595"/>
                  <a:pt x="62508" y="92381"/>
                  <a:pt x="62508" y="95845"/>
                </a:cubicBezTo>
                <a:cubicBezTo>
                  <a:pt x="62508" y="99309"/>
                  <a:pt x="59721" y="102096"/>
                  <a:pt x="56257" y="102096"/>
                </a:cubicBezTo>
                <a:lnTo>
                  <a:pt x="47923" y="102096"/>
                </a:lnTo>
                <a:cubicBezTo>
                  <a:pt x="44459" y="102096"/>
                  <a:pt x="41672" y="99309"/>
                  <a:pt x="41672" y="95845"/>
                </a:cubicBezTo>
                <a:close/>
                <a:moveTo>
                  <a:pt x="72926" y="95845"/>
                </a:moveTo>
                <a:cubicBezTo>
                  <a:pt x="72926" y="92381"/>
                  <a:pt x="75713" y="89595"/>
                  <a:pt x="79177" y="89595"/>
                </a:cubicBezTo>
                <a:lnTo>
                  <a:pt x="87511" y="89595"/>
                </a:lnTo>
                <a:cubicBezTo>
                  <a:pt x="90975" y="89595"/>
                  <a:pt x="93762" y="92381"/>
                  <a:pt x="93762" y="95845"/>
                </a:cubicBezTo>
                <a:cubicBezTo>
                  <a:pt x="93762" y="99309"/>
                  <a:pt x="90975" y="102096"/>
                  <a:pt x="87511" y="102096"/>
                </a:cubicBezTo>
                <a:lnTo>
                  <a:pt x="79177" y="102096"/>
                </a:lnTo>
                <a:cubicBezTo>
                  <a:pt x="75713" y="102096"/>
                  <a:pt x="72926" y="99309"/>
                  <a:pt x="72926" y="95845"/>
                </a:cubicBezTo>
                <a:close/>
                <a:moveTo>
                  <a:pt x="104180" y="95845"/>
                </a:moveTo>
                <a:cubicBezTo>
                  <a:pt x="104180" y="92381"/>
                  <a:pt x="106966" y="89595"/>
                  <a:pt x="110430" y="89595"/>
                </a:cubicBezTo>
                <a:lnTo>
                  <a:pt x="118765" y="89595"/>
                </a:lnTo>
                <a:cubicBezTo>
                  <a:pt x="122229" y="89595"/>
                  <a:pt x="125016" y="92381"/>
                  <a:pt x="125016" y="95845"/>
                </a:cubicBezTo>
                <a:cubicBezTo>
                  <a:pt x="125016" y="99309"/>
                  <a:pt x="122229" y="102096"/>
                  <a:pt x="118765" y="102096"/>
                </a:cubicBezTo>
                <a:lnTo>
                  <a:pt x="110430" y="102096"/>
                </a:lnTo>
                <a:cubicBezTo>
                  <a:pt x="106966" y="102096"/>
                  <a:pt x="104180" y="99309"/>
                  <a:pt x="104180" y="95845"/>
                </a:cubicBezTo>
                <a:close/>
                <a:moveTo>
                  <a:pt x="58341" y="45839"/>
                </a:moveTo>
                <a:cubicBezTo>
                  <a:pt x="65240" y="45839"/>
                  <a:pt x="70842" y="51441"/>
                  <a:pt x="70842" y="58341"/>
                </a:cubicBezTo>
                <a:cubicBezTo>
                  <a:pt x="70842" y="65240"/>
                  <a:pt x="65240" y="70842"/>
                  <a:pt x="58341" y="70842"/>
                </a:cubicBezTo>
                <a:cubicBezTo>
                  <a:pt x="51441" y="70842"/>
                  <a:pt x="45839" y="65240"/>
                  <a:pt x="45839" y="58341"/>
                </a:cubicBezTo>
                <a:cubicBezTo>
                  <a:pt x="45839" y="51441"/>
                  <a:pt x="51441" y="45839"/>
                  <a:pt x="58341" y="45839"/>
                </a:cubicBezTo>
                <a:close/>
                <a:moveTo>
                  <a:pt x="95845" y="58341"/>
                </a:moveTo>
                <a:cubicBezTo>
                  <a:pt x="95845" y="51441"/>
                  <a:pt x="101447" y="45839"/>
                  <a:pt x="108347" y="45839"/>
                </a:cubicBezTo>
                <a:cubicBezTo>
                  <a:pt x="115247" y="45839"/>
                  <a:pt x="120848" y="51441"/>
                  <a:pt x="120848" y="58341"/>
                </a:cubicBezTo>
                <a:cubicBezTo>
                  <a:pt x="120848" y="65240"/>
                  <a:pt x="115247" y="70842"/>
                  <a:pt x="108347" y="70842"/>
                </a:cubicBezTo>
                <a:cubicBezTo>
                  <a:pt x="101447" y="70842"/>
                  <a:pt x="95845" y="65240"/>
                  <a:pt x="95845" y="58341"/>
                </a:cubicBezTo>
                <a:close/>
                <a:moveTo>
                  <a:pt x="16669" y="58341"/>
                </a:moveTo>
                <a:cubicBezTo>
                  <a:pt x="16669" y="53731"/>
                  <a:pt x="12944" y="50006"/>
                  <a:pt x="8334" y="50006"/>
                </a:cubicBezTo>
                <a:cubicBezTo>
                  <a:pt x="3724" y="50006"/>
                  <a:pt x="0" y="53731"/>
                  <a:pt x="0" y="58341"/>
                </a:cubicBezTo>
                <a:lnTo>
                  <a:pt x="0" y="83344"/>
                </a:lnTo>
                <a:cubicBezTo>
                  <a:pt x="0" y="87954"/>
                  <a:pt x="3724" y="91678"/>
                  <a:pt x="8334" y="91678"/>
                </a:cubicBezTo>
                <a:cubicBezTo>
                  <a:pt x="12944" y="91678"/>
                  <a:pt x="16669" y="87954"/>
                  <a:pt x="16669" y="83344"/>
                </a:cubicBezTo>
                <a:lnTo>
                  <a:pt x="16669" y="58341"/>
                </a:lnTo>
                <a:close/>
                <a:moveTo>
                  <a:pt x="158353" y="50006"/>
                </a:moveTo>
                <a:cubicBezTo>
                  <a:pt x="153743" y="50006"/>
                  <a:pt x="150019" y="53731"/>
                  <a:pt x="150019" y="58341"/>
                </a:cubicBezTo>
                <a:lnTo>
                  <a:pt x="150019" y="83344"/>
                </a:lnTo>
                <a:cubicBezTo>
                  <a:pt x="150019" y="87954"/>
                  <a:pt x="153743" y="91678"/>
                  <a:pt x="158353" y="91678"/>
                </a:cubicBezTo>
                <a:cubicBezTo>
                  <a:pt x="162963" y="91678"/>
                  <a:pt x="166688" y="87954"/>
                  <a:pt x="166688" y="83344"/>
                </a:cubicBezTo>
                <a:lnTo>
                  <a:pt x="166688" y="58341"/>
                </a:lnTo>
                <a:cubicBezTo>
                  <a:pt x="166688" y="53731"/>
                  <a:pt x="162963" y="50006"/>
                  <a:pt x="158353" y="50006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61" name="Text 59"/>
          <p:cNvSpPr/>
          <p:nvPr/>
        </p:nvSpPr>
        <p:spPr>
          <a:xfrm>
            <a:off x="6596063" y="5476875"/>
            <a:ext cx="485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F5-TTS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9047559" y="550545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6681" y="53600"/>
                </a:moveTo>
                <a:cubicBezTo>
                  <a:pt x="112827" y="56153"/>
                  <a:pt x="108399" y="58210"/>
                  <a:pt x="103789" y="59851"/>
                </a:cubicBezTo>
                <a:cubicBezTo>
                  <a:pt x="91548" y="64227"/>
                  <a:pt x="75478" y="66675"/>
                  <a:pt x="58341" y="66675"/>
                </a:cubicBezTo>
                <a:cubicBezTo>
                  <a:pt x="41203" y="66675"/>
                  <a:pt x="25107" y="64201"/>
                  <a:pt x="12892" y="59851"/>
                </a:cubicBezTo>
                <a:cubicBezTo>
                  <a:pt x="8308" y="58210"/>
                  <a:pt x="3855" y="56153"/>
                  <a:pt x="0" y="53600"/>
                </a:cubicBezTo>
                <a:lnTo>
                  <a:pt x="0" y="75009"/>
                </a:lnTo>
                <a:cubicBezTo>
                  <a:pt x="0" y="86521"/>
                  <a:pt x="26123" y="95845"/>
                  <a:pt x="58341" y="95845"/>
                </a:cubicBezTo>
                <a:cubicBezTo>
                  <a:pt x="90558" y="95845"/>
                  <a:pt x="116681" y="86521"/>
                  <a:pt x="116681" y="75009"/>
                </a:cubicBezTo>
                <a:lnTo>
                  <a:pt x="116681" y="53600"/>
                </a:lnTo>
                <a:close/>
                <a:moveTo>
                  <a:pt x="116681" y="33337"/>
                </a:moveTo>
                <a:lnTo>
                  <a:pt x="116681" y="20836"/>
                </a:lnTo>
                <a:cubicBezTo>
                  <a:pt x="116681" y="9324"/>
                  <a:pt x="90558" y="0"/>
                  <a:pt x="58341" y="0"/>
                </a:cubicBezTo>
                <a:cubicBezTo>
                  <a:pt x="26123" y="0"/>
                  <a:pt x="0" y="9324"/>
                  <a:pt x="0" y="20836"/>
                </a:cubicBezTo>
                <a:lnTo>
                  <a:pt x="0" y="33337"/>
                </a:lnTo>
                <a:cubicBezTo>
                  <a:pt x="0" y="44849"/>
                  <a:pt x="26123" y="54173"/>
                  <a:pt x="58341" y="54173"/>
                </a:cubicBezTo>
                <a:cubicBezTo>
                  <a:pt x="90558" y="54173"/>
                  <a:pt x="116681" y="44849"/>
                  <a:pt x="116681" y="33337"/>
                </a:cubicBezTo>
                <a:close/>
                <a:moveTo>
                  <a:pt x="103789" y="101523"/>
                </a:moveTo>
                <a:cubicBezTo>
                  <a:pt x="91574" y="105873"/>
                  <a:pt x="75504" y="108347"/>
                  <a:pt x="58341" y="108347"/>
                </a:cubicBezTo>
                <a:cubicBezTo>
                  <a:pt x="41177" y="108347"/>
                  <a:pt x="25107" y="105873"/>
                  <a:pt x="12892" y="101523"/>
                </a:cubicBezTo>
                <a:cubicBezTo>
                  <a:pt x="8308" y="99882"/>
                  <a:pt x="3855" y="97825"/>
                  <a:pt x="0" y="95272"/>
                </a:cubicBezTo>
                <a:lnTo>
                  <a:pt x="0" y="112514"/>
                </a:lnTo>
                <a:cubicBezTo>
                  <a:pt x="0" y="124026"/>
                  <a:pt x="26123" y="133350"/>
                  <a:pt x="58341" y="133350"/>
                </a:cubicBezTo>
                <a:cubicBezTo>
                  <a:pt x="90558" y="133350"/>
                  <a:pt x="116681" y="124026"/>
                  <a:pt x="116681" y="112514"/>
                </a:cubicBezTo>
                <a:lnTo>
                  <a:pt x="116681" y="95272"/>
                </a:lnTo>
                <a:cubicBezTo>
                  <a:pt x="112827" y="97825"/>
                  <a:pt x="108399" y="99882"/>
                  <a:pt x="103789" y="101523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63" name="Text 61"/>
          <p:cNvSpPr/>
          <p:nvPr/>
        </p:nvSpPr>
        <p:spPr>
          <a:xfrm>
            <a:off x="9263063" y="5476875"/>
            <a:ext cx="1333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HuggingFace Datasets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s.presentationgo.com/e571232c06dfc03d533c300c9599ac5a728f4219.png">    </p:cNvPr>
          <p:cNvPicPr>
            <a:picLocks noChangeAspect="1"/>
          </p:cNvPicPr>
          <p:nvPr/>
        </p:nvPicPr>
        <p:blipFill>
          <a:blip r:embed="rId1">
            <a:alphaModFix amt="25000"/>
          </a:blip>
          <a:srcRect l="0" r="0" t="21884" b="21884"/>
          <a:stretch/>
        </p:blipFill>
        <p:spPr>
          <a:xfrm>
            <a:off x="0" y="0"/>
            <a:ext cx="12192000" cy="6855684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5684"/>
          </a:xfrm>
          <a:custGeom>
            <a:avLst/>
            <a:gdLst/>
            <a:ahLst/>
            <a:cxnLst/>
            <a:rect l="l" t="t" r="r" b="b"/>
            <a:pathLst>
              <a:path w="12192000" h="6855684">
                <a:moveTo>
                  <a:pt x="0" y="0"/>
                </a:moveTo>
                <a:lnTo>
                  <a:pt x="12192000" y="0"/>
                </a:lnTo>
                <a:lnTo>
                  <a:pt x="12192000" y="6855684"/>
                </a:lnTo>
                <a:lnTo>
                  <a:pt x="0" y="6855684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90000"/>
                </a:srgbClr>
              </a:gs>
              <a:gs pos="100000">
                <a:srgbClr val="4A6D8C">
                  <a:alpha val="4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020766" y="60219"/>
            <a:ext cx="4150468" cy="491015"/>
          </a:xfrm>
          <a:custGeom>
            <a:avLst/>
            <a:gdLst/>
            <a:ahLst/>
            <a:cxnLst/>
            <a:rect l="l" t="t" r="r" b="b"/>
            <a:pathLst>
              <a:path w="4150468" h="491015">
                <a:moveTo>
                  <a:pt x="37057" y="0"/>
                </a:moveTo>
                <a:lnTo>
                  <a:pt x="4113411" y="0"/>
                </a:lnTo>
                <a:cubicBezTo>
                  <a:pt x="4133877" y="0"/>
                  <a:pt x="4150468" y="16591"/>
                  <a:pt x="4150468" y="37057"/>
                </a:cubicBezTo>
                <a:lnTo>
                  <a:pt x="4150468" y="453958"/>
                </a:lnTo>
                <a:cubicBezTo>
                  <a:pt x="4150468" y="474424"/>
                  <a:pt x="4133877" y="491015"/>
                  <a:pt x="4113411" y="491015"/>
                </a:cubicBezTo>
                <a:lnTo>
                  <a:pt x="37057" y="491015"/>
                </a:lnTo>
                <a:cubicBezTo>
                  <a:pt x="16591" y="491015"/>
                  <a:pt x="0" y="474424"/>
                  <a:pt x="0" y="453958"/>
                </a:cubicBezTo>
                <a:lnTo>
                  <a:pt x="0" y="37057"/>
                </a:lnTo>
                <a:cubicBezTo>
                  <a:pt x="0" y="16591"/>
                  <a:pt x="16591" y="0"/>
                  <a:pt x="37057" y="0"/>
                </a:cubicBezTo>
                <a:close/>
              </a:path>
            </a:pathLst>
          </a:custGeom>
          <a:solidFill>
            <a:srgbClr val="C8A97E">
              <a:alpha val="20000"/>
            </a:srgbClr>
          </a:solidFill>
          <a:ln w="12700">
            <a:solidFill>
              <a:srgbClr val="C8A97E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206672" y="208450"/>
            <a:ext cx="3778655" cy="194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13" b="1" spc="131" kern="0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 Impact &amp; Future Directions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804404" y="629982"/>
            <a:ext cx="8578869" cy="1389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377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Voice-Preserving Dubbing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4377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 Global Education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352683" y="2241994"/>
            <a:ext cx="1482310" cy="37058"/>
          </a:xfrm>
          <a:custGeom>
            <a:avLst/>
            <a:gdLst/>
            <a:ahLst/>
            <a:cxnLst/>
            <a:rect l="l" t="t" r="r" b="b"/>
            <a:pathLst>
              <a:path w="1482310" h="37058">
                <a:moveTo>
                  <a:pt x="0" y="0"/>
                </a:moveTo>
                <a:lnTo>
                  <a:pt x="1482310" y="0"/>
                </a:lnTo>
                <a:lnTo>
                  <a:pt x="1482310" y="37058"/>
                </a:lnTo>
                <a:lnTo>
                  <a:pt x="0" y="37058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8" name="Text 5"/>
          <p:cNvSpPr/>
          <p:nvPr/>
        </p:nvSpPr>
        <p:spPr>
          <a:xfrm>
            <a:off x="1887784" y="2575514"/>
            <a:ext cx="8412109" cy="7226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751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Making educational content accessible across language barriers while preserving the original speaker's voice identity and emotional connection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352241" y="4043927"/>
            <a:ext cx="3585337" cy="2269787"/>
          </a:xfrm>
          <a:custGeom>
            <a:avLst/>
            <a:gdLst/>
            <a:ahLst/>
            <a:cxnLst/>
            <a:rect l="l" t="t" r="r" b="b"/>
            <a:pathLst>
              <a:path w="3585337" h="2269787">
                <a:moveTo>
                  <a:pt x="74109" y="0"/>
                </a:moveTo>
                <a:lnTo>
                  <a:pt x="3511229" y="0"/>
                </a:lnTo>
                <a:cubicBezTo>
                  <a:pt x="3552158" y="0"/>
                  <a:pt x="3585337" y="33180"/>
                  <a:pt x="3585337" y="74109"/>
                </a:cubicBezTo>
                <a:lnTo>
                  <a:pt x="3585337" y="2195679"/>
                </a:lnTo>
                <a:cubicBezTo>
                  <a:pt x="3585337" y="2236608"/>
                  <a:pt x="3552158" y="2269787"/>
                  <a:pt x="3511229" y="2269787"/>
                </a:cubicBezTo>
                <a:lnTo>
                  <a:pt x="74109" y="2269787"/>
                </a:lnTo>
                <a:cubicBezTo>
                  <a:pt x="33180" y="2269787"/>
                  <a:pt x="0" y="2236608"/>
                  <a:pt x="0" y="2195679"/>
                </a:cubicBezTo>
                <a:lnTo>
                  <a:pt x="0" y="74109"/>
                </a:lnTo>
                <a:cubicBezTo>
                  <a:pt x="0" y="33207"/>
                  <a:pt x="33207" y="0"/>
                  <a:pt x="74109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 w="12700">
            <a:solidFill>
              <a:srgbClr val="4A6D8C">
                <a:alpha val="40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033022" y="4307964"/>
            <a:ext cx="222347" cy="222347"/>
          </a:xfrm>
          <a:custGeom>
            <a:avLst/>
            <a:gdLst/>
            <a:ahLst/>
            <a:cxnLst/>
            <a:rect l="l" t="t" r="r" b="b"/>
            <a:pathLst>
              <a:path w="222347" h="222347">
                <a:moveTo>
                  <a:pt x="62665" y="0"/>
                </a:moveTo>
                <a:lnTo>
                  <a:pt x="159942" y="0"/>
                </a:lnTo>
                <a:cubicBezTo>
                  <a:pt x="171450" y="0"/>
                  <a:pt x="180830" y="9467"/>
                  <a:pt x="180396" y="20932"/>
                </a:cubicBezTo>
                <a:cubicBezTo>
                  <a:pt x="180309" y="23233"/>
                  <a:pt x="180222" y="25535"/>
                  <a:pt x="180092" y="27793"/>
                </a:cubicBezTo>
                <a:lnTo>
                  <a:pt x="201632" y="27793"/>
                </a:lnTo>
                <a:cubicBezTo>
                  <a:pt x="212966" y="27793"/>
                  <a:pt x="222954" y="37174"/>
                  <a:pt x="222086" y="49420"/>
                </a:cubicBezTo>
                <a:cubicBezTo>
                  <a:pt x="218829" y="94454"/>
                  <a:pt x="195813" y="119207"/>
                  <a:pt x="170842" y="132149"/>
                </a:cubicBezTo>
                <a:cubicBezTo>
                  <a:pt x="163981" y="135710"/>
                  <a:pt x="156989" y="138359"/>
                  <a:pt x="150344" y="140313"/>
                </a:cubicBezTo>
                <a:cubicBezTo>
                  <a:pt x="141572" y="152733"/>
                  <a:pt x="132453" y="159290"/>
                  <a:pt x="125200" y="162808"/>
                </a:cubicBezTo>
                <a:lnTo>
                  <a:pt x="125200" y="194553"/>
                </a:lnTo>
                <a:lnTo>
                  <a:pt x="152994" y="194553"/>
                </a:lnTo>
                <a:cubicBezTo>
                  <a:pt x="160680" y="194553"/>
                  <a:pt x="166890" y="200763"/>
                  <a:pt x="166890" y="208450"/>
                </a:cubicBezTo>
                <a:cubicBezTo>
                  <a:pt x="166890" y="216136"/>
                  <a:pt x="160680" y="222347"/>
                  <a:pt x="152994" y="222347"/>
                </a:cubicBezTo>
                <a:lnTo>
                  <a:pt x="69614" y="222347"/>
                </a:lnTo>
                <a:cubicBezTo>
                  <a:pt x="61927" y="222347"/>
                  <a:pt x="55717" y="216136"/>
                  <a:pt x="55717" y="208450"/>
                </a:cubicBezTo>
                <a:cubicBezTo>
                  <a:pt x="55717" y="200763"/>
                  <a:pt x="61927" y="194553"/>
                  <a:pt x="69614" y="194553"/>
                </a:cubicBezTo>
                <a:lnTo>
                  <a:pt x="97407" y="194553"/>
                </a:lnTo>
                <a:lnTo>
                  <a:pt x="97407" y="162808"/>
                </a:lnTo>
                <a:cubicBezTo>
                  <a:pt x="90459" y="159464"/>
                  <a:pt x="81817" y="153254"/>
                  <a:pt x="73392" y="141833"/>
                </a:cubicBezTo>
                <a:cubicBezTo>
                  <a:pt x="65401" y="139748"/>
                  <a:pt x="56716" y="136578"/>
                  <a:pt x="48247" y="131801"/>
                </a:cubicBezTo>
                <a:cubicBezTo>
                  <a:pt x="24753" y="118643"/>
                  <a:pt x="3561" y="93846"/>
                  <a:pt x="521" y="49333"/>
                </a:cubicBezTo>
                <a:cubicBezTo>
                  <a:pt x="-304" y="37130"/>
                  <a:pt x="9641" y="27750"/>
                  <a:pt x="20975" y="27750"/>
                </a:cubicBezTo>
                <a:lnTo>
                  <a:pt x="42515" y="27750"/>
                </a:lnTo>
                <a:cubicBezTo>
                  <a:pt x="42385" y="25492"/>
                  <a:pt x="42298" y="23233"/>
                  <a:pt x="42211" y="20888"/>
                </a:cubicBezTo>
                <a:cubicBezTo>
                  <a:pt x="41777" y="9380"/>
                  <a:pt x="51157" y="-43"/>
                  <a:pt x="62665" y="-43"/>
                </a:cubicBezTo>
                <a:close/>
                <a:moveTo>
                  <a:pt x="44078" y="48638"/>
                </a:moveTo>
                <a:lnTo>
                  <a:pt x="21323" y="48638"/>
                </a:lnTo>
                <a:cubicBezTo>
                  <a:pt x="24015" y="85421"/>
                  <a:pt x="40908" y="103834"/>
                  <a:pt x="58323" y="113605"/>
                </a:cubicBezTo>
                <a:cubicBezTo>
                  <a:pt x="52069" y="97407"/>
                  <a:pt x="46901" y="76258"/>
                  <a:pt x="44078" y="48638"/>
                </a:cubicBezTo>
                <a:close/>
                <a:moveTo>
                  <a:pt x="165023" y="111521"/>
                </a:moveTo>
                <a:cubicBezTo>
                  <a:pt x="182611" y="101185"/>
                  <a:pt x="198505" y="82815"/>
                  <a:pt x="201198" y="48638"/>
                </a:cubicBezTo>
                <a:lnTo>
                  <a:pt x="178485" y="48638"/>
                </a:lnTo>
                <a:cubicBezTo>
                  <a:pt x="175793" y="75085"/>
                  <a:pt x="170929" y="95626"/>
                  <a:pt x="165023" y="111521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11" name="Text 8"/>
          <p:cNvSpPr/>
          <p:nvPr/>
        </p:nvSpPr>
        <p:spPr>
          <a:xfrm>
            <a:off x="2801566" y="4270906"/>
            <a:ext cx="2964620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51" b="1" dirty="0">
                <a:solidFill>
                  <a:srgbClr val="C8A9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Achievements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602380" y="4752657"/>
            <a:ext cx="166760" cy="166760"/>
          </a:xfrm>
          <a:custGeom>
            <a:avLst/>
            <a:gdLst/>
            <a:ahLst/>
            <a:cxnLst/>
            <a:rect l="l" t="t" r="r" b="b"/>
            <a:pathLst>
              <a:path w="166760" h="166760">
                <a:moveTo>
                  <a:pt x="83380" y="166760"/>
                </a:moveTo>
                <a:cubicBezTo>
                  <a:pt x="129399" y="166760"/>
                  <a:pt x="166760" y="129399"/>
                  <a:pt x="166760" y="83380"/>
                </a:cubicBezTo>
                <a:cubicBezTo>
                  <a:pt x="166760" y="37361"/>
                  <a:pt x="129399" y="0"/>
                  <a:pt x="83380" y="0"/>
                </a:cubicBezTo>
                <a:cubicBezTo>
                  <a:pt x="37361" y="0"/>
                  <a:pt x="0" y="37361"/>
                  <a:pt x="0" y="83380"/>
                </a:cubicBezTo>
                <a:cubicBezTo>
                  <a:pt x="0" y="129399"/>
                  <a:pt x="37361" y="166760"/>
                  <a:pt x="83380" y="166760"/>
                </a:cubicBezTo>
                <a:close/>
                <a:moveTo>
                  <a:pt x="110869" y="69277"/>
                </a:moveTo>
                <a:lnTo>
                  <a:pt x="84813" y="110967"/>
                </a:lnTo>
                <a:cubicBezTo>
                  <a:pt x="83445" y="113149"/>
                  <a:pt x="81100" y="114517"/>
                  <a:pt x="78527" y="114647"/>
                </a:cubicBezTo>
                <a:cubicBezTo>
                  <a:pt x="75954" y="114778"/>
                  <a:pt x="73479" y="113605"/>
                  <a:pt x="71948" y="111521"/>
                </a:cubicBezTo>
                <a:lnTo>
                  <a:pt x="56314" y="90676"/>
                </a:lnTo>
                <a:cubicBezTo>
                  <a:pt x="53708" y="87223"/>
                  <a:pt x="54425" y="82338"/>
                  <a:pt x="57877" y="79732"/>
                </a:cubicBezTo>
                <a:cubicBezTo>
                  <a:pt x="61330" y="77126"/>
                  <a:pt x="66215" y="77843"/>
                  <a:pt x="68821" y="81295"/>
                </a:cubicBezTo>
                <a:lnTo>
                  <a:pt x="77615" y="93021"/>
                </a:lnTo>
                <a:lnTo>
                  <a:pt x="97613" y="61004"/>
                </a:lnTo>
                <a:cubicBezTo>
                  <a:pt x="99893" y="57356"/>
                  <a:pt x="104713" y="56216"/>
                  <a:pt x="108394" y="58529"/>
                </a:cubicBezTo>
                <a:cubicBezTo>
                  <a:pt x="112074" y="60841"/>
                  <a:pt x="113182" y="65629"/>
                  <a:pt x="110869" y="69310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13" name="Text 10"/>
          <p:cNvSpPr/>
          <p:nvPr/>
        </p:nvSpPr>
        <p:spPr>
          <a:xfrm>
            <a:off x="2898842" y="4715599"/>
            <a:ext cx="2899769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3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End-to-end pipeline with voice cloning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2602380" y="5123234"/>
            <a:ext cx="166760" cy="166760"/>
          </a:xfrm>
          <a:custGeom>
            <a:avLst/>
            <a:gdLst/>
            <a:ahLst/>
            <a:cxnLst/>
            <a:rect l="l" t="t" r="r" b="b"/>
            <a:pathLst>
              <a:path w="166760" h="166760">
                <a:moveTo>
                  <a:pt x="83380" y="166760"/>
                </a:moveTo>
                <a:cubicBezTo>
                  <a:pt x="129399" y="166760"/>
                  <a:pt x="166760" y="129399"/>
                  <a:pt x="166760" y="83380"/>
                </a:cubicBezTo>
                <a:cubicBezTo>
                  <a:pt x="166760" y="37361"/>
                  <a:pt x="129399" y="0"/>
                  <a:pt x="83380" y="0"/>
                </a:cubicBezTo>
                <a:cubicBezTo>
                  <a:pt x="37361" y="0"/>
                  <a:pt x="0" y="37361"/>
                  <a:pt x="0" y="83380"/>
                </a:cubicBezTo>
                <a:cubicBezTo>
                  <a:pt x="0" y="129399"/>
                  <a:pt x="37361" y="166760"/>
                  <a:pt x="83380" y="166760"/>
                </a:cubicBezTo>
                <a:close/>
                <a:moveTo>
                  <a:pt x="110869" y="69277"/>
                </a:moveTo>
                <a:lnTo>
                  <a:pt x="84813" y="110967"/>
                </a:lnTo>
                <a:cubicBezTo>
                  <a:pt x="83445" y="113149"/>
                  <a:pt x="81100" y="114517"/>
                  <a:pt x="78527" y="114647"/>
                </a:cubicBezTo>
                <a:cubicBezTo>
                  <a:pt x="75954" y="114778"/>
                  <a:pt x="73479" y="113605"/>
                  <a:pt x="71948" y="111521"/>
                </a:cubicBezTo>
                <a:lnTo>
                  <a:pt x="56314" y="90676"/>
                </a:lnTo>
                <a:cubicBezTo>
                  <a:pt x="53708" y="87223"/>
                  <a:pt x="54425" y="82338"/>
                  <a:pt x="57877" y="79732"/>
                </a:cubicBezTo>
                <a:cubicBezTo>
                  <a:pt x="61330" y="77126"/>
                  <a:pt x="66215" y="77843"/>
                  <a:pt x="68821" y="81295"/>
                </a:cubicBezTo>
                <a:lnTo>
                  <a:pt x="77615" y="93021"/>
                </a:lnTo>
                <a:lnTo>
                  <a:pt x="97613" y="61004"/>
                </a:lnTo>
                <a:cubicBezTo>
                  <a:pt x="99893" y="57356"/>
                  <a:pt x="104713" y="56216"/>
                  <a:pt x="108394" y="58529"/>
                </a:cubicBezTo>
                <a:cubicBezTo>
                  <a:pt x="112074" y="60841"/>
                  <a:pt x="113182" y="65629"/>
                  <a:pt x="110869" y="69310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15" name="Text 12"/>
          <p:cNvSpPr/>
          <p:nvPr/>
        </p:nvSpPr>
        <p:spPr>
          <a:xfrm>
            <a:off x="2898842" y="5086176"/>
            <a:ext cx="1971615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3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Many languages supported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2602380" y="5493812"/>
            <a:ext cx="166760" cy="166760"/>
          </a:xfrm>
          <a:custGeom>
            <a:avLst/>
            <a:gdLst/>
            <a:ahLst/>
            <a:cxnLst/>
            <a:rect l="l" t="t" r="r" b="b"/>
            <a:pathLst>
              <a:path w="166760" h="166760">
                <a:moveTo>
                  <a:pt x="83380" y="166760"/>
                </a:moveTo>
                <a:cubicBezTo>
                  <a:pt x="129399" y="166760"/>
                  <a:pt x="166760" y="129399"/>
                  <a:pt x="166760" y="83380"/>
                </a:cubicBezTo>
                <a:cubicBezTo>
                  <a:pt x="166760" y="37361"/>
                  <a:pt x="129399" y="0"/>
                  <a:pt x="83380" y="0"/>
                </a:cubicBezTo>
                <a:cubicBezTo>
                  <a:pt x="37361" y="0"/>
                  <a:pt x="0" y="37361"/>
                  <a:pt x="0" y="83380"/>
                </a:cubicBezTo>
                <a:cubicBezTo>
                  <a:pt x="0" y="129399"/>
                  <a:pt x="37361" y="166760"/>
                  <a:pt x="83380" y="166760"/>
                </a:cubicBezTo>
                <a:close/>
                <a:moveTo>
                  <a:pt x="110869" y="69277"/>
                </a:moveTo>
                <a:lnTo>
                  <a:pt x="84813" y="110967"/>
                </a:lnTo>
                <a:cubicBezTo>
                  <a:pt x="83445" y="113149"/>
                  <a:pt x="81100" y="114517"/>
                  <a:pt x="78527" y="114647"/>
                </a:cubicBezTo>
                <a:cubicBezTo>
                  <a:pt x="75954" y="114778"/>
                  <a:pt x="73479" y="113605"/>
                  <a:pt x="71948" y="111521"/>
                </a:cubicBezTo>
                <a:lnTo>
                  <a:pt x="56314" y="90676"/>
                </a:lnTo>
                <a:cubicBezTo>
                  <a:pt x="53708" y="87223"/>
                  <a:pt x="54425" y="82338"/>
                  <a:pt x="57877" y="79732"/>
                </a:cubicBezTo>
                <a:cubicBezTo>
                  <a:pt x="61330" y="77126"/>
                  <a:pt x="66215" y="77843"/>
                  <a:pt x="68821" y="81295"/>
                </a:cubicBezTo>
                <a:lnTo>
                  <a:pt x="77615" y="93021"/>
                </a:lnTo>
                <a:lnTo>
                  <a:pt x="97613" y="61004"/>
                </a:lnTo>
                <a:cubicBezTo>
                  <a:pt x="99893" y="57356"/>
                  <a:pt x="104713" y="56216"/>
                  <a:pt x="108394" y="58529"/>
                </a:cubicBezTo>
                <a:cubicBezTo>
                  <a:pt x="112074" y="60841"/>
                  <a:pt x="113182" y="65629"/>
                  <a:pt x="110869" y="69310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17" name="Text 14"/>
          <p:cNvSpPr/>
          <p:nvPr/>
        </p:nvSpPr>
        <p:spPr>
          <a:xfrm>
            <a:off x="2898842" y="5456754"/>
            <a:ext cx="2464340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3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Cost-effective: $0.05-0.15/video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2602380" y="5864389"/>
            <a:ext cx="166760" cy="166760"/>
          </a:xfrm>
          <a:custGeom>
            <a:avLst/>
            <a:gdLst/>
            <a:ahLst/>
            <a:cxnLst/>
            <a:rect l="l" t="t" r="r" b="b"/>
            <a:pathLst>
              <a:path w="166760" h="166760">
                <a:moveTo>
                  <a:pt x="83380" y="166760"/>
                </a:moveTo>
                <a:cubicBezTo>
                  <a:pt x="129399" y="166760"/>
                  <a:pt x="166760" y="129399"/>
                  <a:pt x="166760" y="83380"/>
                </a:cubicBezTo>
                <a:cubicBezTo>
                  <a:pt x="166760" y="37361"/>
                  <a:pt x="129399" y="0"/>
                  <a:pt x="83380" y="0"/>
                </a:cubicBezTo>
                <a:cubicBezTo>
                  <a:pt x="37361" y="0"/>
                  <a:pt x="0" y="37361"/>
                  <a:pt x="0" y="83380"/>
                </a:cubicBezTo>
                <a:cubicBezTo>
                  <a:pt x="0" y="129399"/>
                  <a:pt x="37361" y="166760"/>
                  <a:pt x="83380" y="166760"/>
                </a:cubicBezTo>
                <a:close/>
                <a:moveTo>
                  <a:pt x="110869" y="69277"/>
                </a:moveTo>
                <a:lnTo>
                  <a:pt x="84813" y="110967"/>
                </a:lnTo>
                <a:cubicBezTo>
                  <a:pt x="83445" y="113149"/>
                  <a:pt x="81100" y="114517"/>
                  <a:pt x="78527" y="114647"/>
                </a:cubicBezTo>
                <a:cubicBezTo>
                  <a:pt x="75954" y="114778"/>
                  <a:pt x="73479" y="113605"/>
                  <a:pt x="71948" y="111521"/>
                </a:cubicBezTo>
                <a:lnTo>
                  <a:pt x="56314" y="90676"/>
                </a:lnTo>
                <a:cubicBezTo>
                  <a:pt x="53708" y="87223"/>
                  <a:pt x="54425" y="82338"/>
                  <a:pt x="57877" y="79732"/>
                </a:cubicBezTo>
                <a:cubicBezTo>
                  <a:pt x="61330" y="77126"/>
                  <a:pt x="66215" y="77843"/>
                  <a:pt x="68821" y="81295"/>
                </a:cubicBezTo>
                <a:lnTo>
                  <a:pt x="77615" y="93021"/>
                </a:lnTo>
                <a:lnTo>
                  <a:pt x="97613" y="61004"/>
                </a:lnTo>
                <a:cubicBezTo>
                  <a:pt x="99893" y="57356"/>
                  <a:pt x="104713" y="56216"/>
                  <a:pt x="108394" y="58529"/>
                </a:cubicBezTo>
                <a:cubicBezTo>
                  <a:pt x="112074" y="60841"/>
                  <a:pt x="113182" y="65629"/>
                  <a:pt x="110869" y="69310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19" name="Text 16"/>
          <p:cNvSpPr/>
          <p:nvPr/>
        </p:nvSpPr>
        <p:spPr>
          <a:xfrm>
            <a:off x="2898842" y="5827331"/>
            <a:ext cx="2362432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3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Scalable serverless architecture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246701" y="4043927"/>
            <a:ext cx="3585337" cy="2269787"/>
          </a:xfrm>
          <a:custGeom>
            <a:avLst/>
            <a:gdLst/>
            <a:ahLst/>
            <a:cxnLst/>
            <a:rect l="l" t="t" r="r" b="b"/>
            <a:pathLst>
              <a:path w="3585337" h="2269787">
                <a:moveTo>
                  <a:pt x="74109" y="0"/>
                </a:moveTo>
                <a:lnTo>
                  <a:pt x="3511229" y="0"/>
                </a:lnTo>
                <a:cubicBezTo>
                  <a:pt x="3552158" y="0"/>
                  <a:pt x="3585337" y="33180"/>
                  <a:pt x="3585337" y="74109"/>
                </a:cubicBezTo>
                <a:lnTo>
                  <a:pt x="3585337" y="2195679"/>
                </a:lnTo>
                <a:cubicBezTo>
                  <a:pt x="3585337" y="2236608"/>
                  <a:pt x="3552158" y="2269787"/>
                  <a:pt x="3511229" y="2269787"/>
                </a:cubicBezTo>
                <a:lnTo>
                  <a:pt x="74109" y="2269787"/>
                </a:lnTo>
                <a:cubicBezTo>
                  <a:pt x="33180" y="2269787"/>
                  <a:pt x="0" y="2236608"/>
                  <a:pt x="0" y="2195679"/>
                </a:cubicBezTo>
                <a:lnTo>
                  <a:pt x="0" y="74109"/>
                </a:lnTo>
                <a:cubicBezTo>
                  <a:pt x="0" y="33207"/>
                  <a:pt x="33207" y="0"/>
                  <a:pt x="74109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 w="12700">
            <a:solidFill>
              <a:srgbClr val="4A6D8C">
                <a:alpha val="4000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240776" y="4307964"/>
            <a:ext cx="222347" cy="222347"/>
          </a:xfrm>
          <a:custGeom>
            <a:avLst/>
            <a:gdLst/>
            <a:ahLst/>
            <a:cxnLst/>
            <a:rect l="l" t="t" r="r" b="b"/>
            <a:pathLst>
              <a:path w="222347" h="222347">
                <a:moveTo>
                  <a:pt x="55587" y="138967"/>
                </a:moveTo>
                <a:lnTo>
                  <a:pt x="10640" y="138967"/>
                </a:lnTo>
                <a:cubicBezTo>
                  <a:pt x="-174" y="138967"/>
                  <a:pt x="-6818" y="127198"/>
                  <a:pt x="-1259" y="117904"/>
                </a:cubicBezTo>
                <a:lnTo>
                  <a:pt x="21714" y="79602"/>
                </a:lnTo>
                <a:cubicBezTo>
                  <a:pt x="25492" y="73305"/>
                  <a:pt x="32266" y="69483"/>
                  <a:pt x="39605" y="69483"/>
                </a:cubicBezTo>
                <a:lnTo>
                  <a:pt x="80861" y="69483"/>
                </a:lnTo>
                <a:cubicBezTo>
                  <a:pt x="113909" y="13506"/>
                  <a:pt x="163199" y="10683"/>
                  <a:pt x="196160" y="15503"/>
                </a:cubicBezTo>
                <a:cubicBezTo>
                  <a:pt x="201719" y="16329"/>
                  <a:pt x="206061" y="20671"/>
                  <a:pt x="206843" y="26187"/>
                </a:cubicBezTo>
                <a:cubicBezTo>
                  <a:pt x="211663" y="59148"/>
                  <a:pt x="208841" y="108437"/>
                  <a:pt x="152863" y="141485"/>
                </a:cubicBezTo>
                <a:lnTo>
                  <a:pt x="152863" y="182741"/>
                </a:lnTo>
                <a:cubicBezTo>
                  <a:pt x="152863" y="190080"/>
                  <a:pt x="149042" y="196855"/>
                  <a:pt x="142745" y="200633"/>
                </a:cubicBezTo>
                <a:lnTo>
                  <a:pt x="104442" y="223606"/>
                </a:lnTo>
                <a:cubicBezTo>
                  <a:pt x="95192" y="229165"/>
                  <a:pt x="83380" y="222477"/>
                  <a:pt x="83380" y="211707"/>
                </a:cubicBezTo>
                <a:lnTo>
                  <a:pt x="83380" y="166760"/>
                </a:lnTo>
                <a:cubicBezTo>
                  <a:pt x="83380" y="151430"/>
                  <a:pt x="70916" y="138967"/>
                  <a:pt x="55587" y="138967"/>
                </a:cubicBezTo>
                <a:lnTo>
                  <a:pt x="55543" y="138967"/>
                </a:lnTo>
                <a:close/>
                <a:moveTo>
                  <a:pt x="173708" y="69483"/>
                </a:moveTo>
                <a:cubicBezTo>
                  <a:pt x="173708" y="57979"/>
                  <a:pt x="164368" y="48638"/>
                  <a:pt x="152863" y="48638"/>
                </a:cubicBezTo>
                <a:cubicBezTo>
                  <a:pt x="141359" y="48638"/>
                  <a:pt x="132018" y="57979"/>
                  <a:pt x="132018" y="69483"/>
                </a:cubicBezTo>
                <a:cubicBezTo>
                  <a:pt x="132018" y="80988"/>
                  <a:pt x="141359" y="90328"/>
                  <a:pt x="152863" y="90328"/>
                </a:cubicBezTo>
                <a:cubicBezTo>
                  <a:pt x="164368" y="90328"/>
                  <a:pt x="173708" y="80988"/>
                  <a:pt x="173708" y="69483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22" name="Text 19"/>
          <p:cNvSpPr/>
          <p:nvPr/>
        </p:nvSpPr>
        <p:spPr>
          <a:xfrm>
            <a:off x="6696027" y="4270906"/>
            <a:ext cx="2964620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51" b="1" dirty="0">
                <a:solidFill>
                  <a:srgbClr val="C8A9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Future Work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6496841" y="4752657"/>
            <a:ext cx="166760" cy="166760"/>
          </a:xfrm>
          <a:custGeom>
            <a:avLst/>
            <a:gdLst/>
            <a:ahLst/>
            <a:cxnLst/>
            <a:rect l="l" t="t" r="r" b="b"/>
            <a:pathLst>
              <a:path w="166760" h="166760">
                <a:moveTo>
                  <a:pt x="163698" y="90741"/>
                </a:moveTo>
                <a:cubicBezTo>
                  <a:pt x="167770" y="86670"/>
                  <a:pt x="167770" y="80058"/>
                  <a:pt x="163698" y="75986"/>
                </a:cubicBezTo>
                <a:lnTo>
                  <a:pt x="111586" y="23874"/>
                </a:lnTo>
                <a:cubicBezTo>
                  <a:pt x="107515" y="19803"/>
                  <a:pt x="100903" y="19803"/>
                  <a:pt x="96831" y="23874"/>
                </a:cubicBezTo>
                <a:cubicBezTo>
                  <a:pt x="92760" y="27945"/>
                  <a:pt x="92760" y="34557"/>
                  <a:pt x="96831" y="38628"/>
                </a:cubicBezTo>
                <a:lnTo>
                  <a:pt x="131161" y="72957"/>
                </a:lnTo>
                <a:lnTo>
                  <a:pt x="10422" y="72957"/>
                </a:lnTo>
                <a:cubicBezTo>
                  <a:pt x="4658" y="72957"/>
                  <a:pt x="0" y="77615"/>
                  <a:pt x="0" y="83380"/>
                </a:cubicBezTo>
                <a:cubicBezTo>
                  <a:pt x="0" y="89145"/>
                  <a:pt x="4658" y="93802"/>
                  <a:pt x="10422" y="93802"/>
                </a:cubicBezTo>
                <a:lnTo>
                  <a:pt x="131161" y="93802"/>
                </a:lnTo>
                <a:lnTo>
                  <a:pt x="96831" y="128132"/>
                </a:lnTo>
                <a:cubicBezTo>
                  <a:pt x="92760" y="132203"/>
                  <a:pt x="92760" y="138815"/>
                  <a:pt x="96831" y="142886"/>
                </a:cubicBezTo>
                <a:cubicBezTo>
                  <a:pt x="100903" y="146957"/>
                  <a:pt x="107515" y="146957"/>
                  <a:pt x="111586" y="142886"/>
                </a:cubicBezTo>
                <a:lnTo>
                  <a:pt x="163698" y="90773"/>
                </a:ln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24" name="Text 21"/>
          <p:cNvSpPr/>
          <p:nvPr/>
        </p:nvSpPr>
        <p:spPr>
          <a:xfrm>
            <a:off x="6793303" y="4715599"/>
            <a:ext cx="2149350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3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 Gemini integration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6496841" y="5123234"/>
            <a:ext cx="166760" cy="166760"/>
          </a:xfrm>
          <a:custGeom>
            <a:avLst/>
            <a:gdLst/>
            <a:ahLst/>
            <a:cxnLst/>
            <a:rect l="l" t="t" r="r" b="b"/>
            <a:pathLst>
              <a:path w="166760" h="166760">
                <a:moveTo>
                  <a:pt x="163698" y="90741"/>
                </a:moveTo>
                <a:cubicBezTo>
                  <a:pt x="167770" y="86670"/>
                  <a:pt x="167770" y="80058"/>
                  <a:pt x="163698" y="75986"/>
                </a:cubicBezTo>
                <a:lnTo>
                  <a:pt x="111586" y="23874"/>
                </a:lnTo>
                <a:cubicBezTo>
                  <a:pt x="107515" y="19803"/>
                  <a:pt x="100903" y="19803"/>
                  <a:pt x="96831" y="23874"/>
                </a:cubicBezTo>
                <a:cubicBezTo>
                  <a:pt x="92760" y="27945"/>
                  <a:pt x="92760" y="34557"/>
                  <a:pt x="96831" y="38628"/>
                </a:cubicBezTo>
                <a:lnTo>
                  <a:pt x="131161" y="72957"/>
                </a:lnTo>
                <a:lnTo>
                  <a:pt x="10422" y="72957"/>
                </a:lnTo>
                <a:cubicBezTo>
                  <a:pt x="4658" y="72957"/>
                  <a:pt x="0" y="77615"/>
                  <a:pt x="0" y="83380"/>
                </a:cubicBezTo>
                <a:cubicBezTo>
                  <a:pt x="0" y="89145"/>
                  <a:pt x="4658" y="93802"/>
                  <a:pt x="10422" y="93802"/>
                </a:cubicBezTo>
                <a:lnTo>
                  <a:pt x="131161" y="93802"/>
                </a:lnTo>
                <a:lnTo>
                  <a:pt x="96831" y="128132"/>
                </a:lnTo>
                <a:cubicBezTo>
                  <a:pt x="92760" y="132203"/>
                  <a:pt x="92760" y="138815"/>
                  <a:pt x="96831" y="142886"/>
                </a:cubicBezTo>
                <a:cubicBezTo>
                  <a:pt x="100903" y="146957"/>
                  <a:pt x="107515" y="146957"/>
                  <a:pt x="111586" y="142886"/>
                </a:cubicBezTo>
                <a:lnTo>
                  <a:pt x="163698" y="90773"/>
                </a:ln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26" name="Text 23"/>
          <p:cNvSpPr/>
          <p:nvPr/>
        </p:nvSpPr>
        <p:spPr>
          <a:xfrm>
            <a:off x="6793303" y="5086176"/>
            <a:ext cx="2362432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3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Deploy fine-tuned Darija model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6496841" y="5493812"/>
            <a:ext cx="166760" cy="166760"/>
          </a:xfrm>
          <a:custGeom>
            <a:avLst/>
            <a:gdLst/>
            <a:ahLst/>
            <a:cxnLst/>
            <a:rect l="l" t="t" r="r" b="b"/>
            <a:pathLst>
              <a:path w="166760" h="166760">
                <a:moveTo>
                  <a:pt x="163698" y="90741"/>
                </a:moveTo>
                <a:cubicBezTo>
                  <a:pt x="167770" y="86670"/>
                  <a:pt x="167770" y="80058"/>
                  <a:pt x="163698" y="75986"/>
                </a:cubicBezTo>
                <a:lnTo>
                  <a:pt x="111586" y="23874"/>
                </a:lnTo>
                <a:cubicBezTo>
                  <a:pt x="107515" y="19803"/>
                  <a:pt x="100903" y="19803"/>
                  <a:pt x="96831" y="23874"/>
                </a:cubicBezTo>
                <a:cubicBezTo>
                  <a:pt x="92760" y="27945"/>
                  <a:pt x="92760" y="34557"/>
                  <a:pt x="96831" y="38628"/>
                </a:cubicBezTo>
                <a:lnTo>
                  <a:pt x="131161" y="72957"/>
                </a:lnTo>
                <a:lnTo>
                  <a:pt x="10422" y="72957"/>
                </a:lnTo>
                <a:cubicBezTo>
                  <a:pt x="4658" y="72957"/>
                  <a:pt x="0" y="77615"/>
                  <a:pt x="0" y="83380"/>
                </a:cubicBezTo>
                <a:cubicBezTo>
                  <a:pt x="0" y="89145"/>
                  <a:pt x="4658" y="93802"/>
                  <a:pt x="10422" y="93802"/>
                </a:cubicBezTo>
                <a:lnTo>
                  <a:pt x="131161" y="93802"/>
                </a:lnTo>
                <a:lnTo>
                  <a:pt x="96831" y="128132"/>
                </a:lnTo>
                <a:cubicBezTo>
                  <a:pt x="92760" y="132203"/>
                  <a:pt x="92760" y="138815"/>
                  <a:pt x="96831" y="142886"/>
                </a:cubicBezTo>
                <a:cubicBezTo>
                  <a:pt x="100903" y="146957"/>
                  <a:pt x="107515" y="146957"/>
                  <a:pt x="111586" y="142886"/>
                </a:cubicBezTo>
                <a:lnTo>
                  <a:pt x="163698" y="90773"/>
                </a:ln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28" name="Text 25"/>
          <p:cNvSpPr/>
          <p:nvPr/>
        </p:nvSpPr>
        <p:spPr>
          <a:xfrm>
            <a:off x="6793303" y="5456754"/>
            <a:ext cx="2028912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3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Optimize processing speed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6496841" y="5864389"/>
            <a:ext cx="166760" cy="166760"/>
          </a:xfrm>
          <a:custGeom>
            <a:avLst/>
            <a:gdLst/>
            <a:ahLst/>
            <a:cxnLst/>
            <a:rect l="l" t="t" r="r" b="b"/>
            <a:pathLst>
              <a:path w="166760" h="166760">
                <a:moveTo>
                  <a:pt x="163698" y="90741"/>
                </a:moveTo>
                <a:cubicBezTo>
                  <a:pt x="167770" y="86670"/>
                  <a:pt x="167770" y="80058"/>
                  <a:pt x="163698" y="75986"/>
                </a:cubicBezTo>
                <a:lnTo>
                  <a:pt x="111586" y="23874"/>
                </a:lnTo>
                <a:cubicBezTo>
                  <a:pt x="107515" y="19803"/>
                  <a:pt x="100903" y="19803"/>
                  <a:pt x="96831" y="23874"/>
                </a:cubicBezTo>
                <a:cubicBezTo>
                  <a:pt x="92760" y="27945"/>
                  <a:pt x="92760" y="34557"/>
                  <a:pt x="96831" y="38628"/>
                </a:cubicBezTo>
                <a:lnTo>
                  <a:pt x="131161" y="72957"/>
                </a:lnTo>
                <a:lnTo>
                  <a:pt x="10422" y="72957"/>
                </a:lnTo>
                <a:cubicBezTo>
                  <a:pt x="4658" y="72957"/>
                  <a:pt x="0" y="77615"/>
                  <a:pt x="0" y="83380"/>
                </a:cubicBezTo>
                <a:cubicBezTo>
                  <a:pt x="0" y="89145"/>
                  <a:pt x="4658" y="93802"/>
                  <a:pt x="10422" y="93802"/>
                </a:cubicBezTo>
                <a:lnTo>
                  <a:pt x="131161" y="93802"/>
                </a:lnTo>
                <a:lnTo>
                  <a:pt x="96831" y="128132"/>
                </a:lnTo>
                <a:cubicBezTo>
                  <a:pt x="92760" y="132203"/>
                  <a:pt x="92760" y="138815"/>
                  <a:pt x="96831" y="142886"/>
                </a:cubicBezTo>
                <a:cubicBezTo>
                  <a:pt x="100903" y="146957"/>
                  <a:pt x="107515" y="146957"/>
                  <a:pt x="111586" y="142886"/>
                </a:cubicBezTo>
                <a:lnTo>
                  <a:pt x="163698" y="90773"/>
                </a:ln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30" name="Text 27"/>
          <p:cNvSpPr/>
          <p:nvPr/>
        </p:nvSpPr>
        <p:spPr>
          <a:xfrm>
            <a:off x="6793303" y="5827331"/>
            <a:ext cx="2149350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3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Expand to real-time dubbing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4206672" y="6475842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34888" y="10021"/>
                </a:moveTo>
                <a:cubicBezTo>
                  <a:pt x="130026" y="7243"/>
                  <a:pt x="124023" y="7243"/>
                  <a:pt x="119112" y="10021"/>
                </a:cubicBezTo>
                <a:lnTo>
                  <a:pt x="7987" y="73521"/>
                </a:lnTo>
                <a:cubicBezTo>
                  <a:pt x="1736" y="77093"/>
                  <a:pt x="-1339" y="84435"/>
                  <a:pt x="496" y="91380"/>
                </a:cubicBezTo>
                <a:cubicBezTo>
                  <a:pt x="2332" y="98326"/>
                  <a:pt x="8682" y="103188"/>
                  <a:pt x="15875" y="103188"/>
                </a:cubicBezTo>
                <a:lnTo>
                  <a:pt x="31750" y="103188"/>
                </a:lnTo>
                <a:lnTo>
                  <a:pt x="31750" y="206375"/>
                </a:lnTo>
                <a:lnTo>
                  <a:pt x="31750" y="206375"/>
                </a:lnTo>
                <a:lnTo>
                  <a:pt x="6350" y="225425"/>
                </a:lnTo>
                <a:cubicBezTo>
                  <a:pt x="2332" y="228402"/>
                  <a:pt x="0" y="233114"/>
                  <a:pt x="0" y="238125"/>
                </a:cubicBezTo>
                <a:cubicBezTo>
                  <a:pt x="0" y="246906"/>
                  <a:pt x="7094" y="254000"/>
                  <a:pt x="15875" y="254000"/>
                </a:cubicBezTo>
                <a:lnTo>
                  <a:pt x="238125" y="254000"/>
                </a:lnTo>
                <a:cubicBezTo>
                  <a:pt x="246906" y="254000"/>
                  <a:pt x="254000" y="246906"/>
                  <a:pt x="254000" y="238125"/>
                </a:cubicBezTo>
                <a:cubicBezTo>
                  <a:pt x="254000" y="233114"/>
                  <a:pt x="251668" y="228402"/>
                  <a:pt x="247650" y="225425"/>
                </a:cubicBezTo>
                <a:lnTo>
                  <a:pt x="222250" y="206375"/>
                </a:lnTo>
                <a:lnTo>
                  <a:pt x="222250" y="103188"/>
                </a:lnTo>
                <a:lnTo>
                  <a:pt x="238125" y="103188"/>
                </a:lnTo>
                <a:cubicBezTo>
                  <a:pt x="245318" y="103188"/>
                  <a:pt x="251619" y="98326"/>
                  <a:pt x="253454" y="91380"/>
                </a:cubicBezTo>
                <a:cubicBezTo>
                  <a:pt x="255290" y="84435"/>
                  <a:pt x="252214" y="77093"/>
                  <a:pt x="245963" y="73521"/>
                </a:cubicBezTo>
                <a:lnTo>
                  <a:pt x="134838" y="10021"/>
                </a:lnTo>
                <a:close/>
                <a:moveTo>
                  <a:pt x="198438" y="103188"/>
                </a:moveTo>
                <a:lnTo>
                  <a:pt x="198438" y="206375"/>
                </a:lnTo>
                <a:lnTo>
                  <a:pt x="166688" y="206375"/>
                </a:lnTo>
                <a:lnTo>
                  <a:pt x="166688" y="103188"/>
                </a:lnTo>
                <a:lnTo>
                  <a:pt x="198438" y="103188"/>
                </a:lnTo>
                <a:close/>
                <a:moveTo>
                  <a:pt x="142875" y="103188"/>
                </a:moveTo>
                <a:lnTo>
                  <a:pt x="142875" y="206375"/>
                </a:lnTo>
                <a:lnTo>
                  <a:pt x="111125" y="206375"/>
                </a:lnTo>
                <a:lnTo>
                  <a:pt x="111125" y="103188"/>
                </a:lnTo>
                <a:lnTo>
                  <a:pt x="142875" y="103188"/>
                </a:lnTo>
                <a:close/>
                <a:moveTo>
                  <a:pt x="87313" y="103188"/>
                </a:moveTo>
                <a:lnTo>
                  <a:pt x="87313" y="206375"/>
                </a:lnTo>
                <a:lnTo>
                  <a:pt x="55563" y="206375"/>
                </a:lnTo>
                <a:lnTo>
                  <a:pt x="55563" y="103188"/>
                </a:lnTo>
                <a:lnTo>
                  <a:pt x="87313" y="103188"/>
                </a:lnTo>
                <a:close/>
                <a:moveTo>
                  <a:pt x="127000" y="47625"/>
                </a:moveTo>
                <a:cubicBezTo>
                  <a:pt x="135762" y="47625"/>
                  <a:pt x="142875" y="54738"/>
                  <a:pt x="142875" y="63500"/>
                </a:cubicBezTo>
                <a:cubicBezTo>
                  <a:pt x="142875" y="72262"/>
                  <a:pt x="135762" y="79375"/>
                  <a:pt x="127000" y="79375"/>
                </a:cubicBezTo>
                <a:cubicBezTo>
                  <a:pt x="118238" y="79375"/>
                  <a:pt x="111125" y="72262"/>
                  <a:pt x="111125" y="63500"/>
                </a:cubicBezTo>
                <a:cubicBezTo>
                  <a:pt x="111125" y="54738"/>
                  <a:pt x="118238" y="47625"/>
                  <a:pt x="127000" y="47625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32" name="Text 29"/>
          <p:cNvSpPr/>
          <p:nvPr/>
        </p:nvSpPr>
        <p:spPr>
          <a:xfrm>
            <a:off x="4477966" y="6475842"/>
            <a:ext cx="2185635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13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Engineering Final Project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6834993" y="6475842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72571" y="0"/>
                </a:moveTo>
                <a:cubicBezTo>
                  <a:pt x="62536" y="0"/>
                  <a:pt x="54429" y="7094"/>
                  <a:pt x="54429" y="15875"/>
                </a:cubicBezTo>
                <a:lnTo>
                  <a:pt x="54429" y="31750"/>
                </a:lnTo>
                <a:lnTo>
                  <a:pt x="36286" y="31750"/>
                </a:lnTo>
                <a:cubicBezTo>
                  <a:pt x="16272" y="31750"/>
                  <a:pt x="0" y="45988"/>
                  <a:pt x="0" y="63500"/>
                </a:cubicBezTo>
                <a:lnTo>
                  <a:pt x="0" y="87313"/>
                </a:lnTo>
                <a:lnTo>
                  <a:pt x="254000" y="87313"/>
                </a:lnTo>
                <a:lnTo>
                  <a:pt x="254000" y="63500"/>
                </a:lnTo>
                <a:cubicBezTo>
                  <a:pt x="254000" y="45988"/>
                  <a:pt x="237728" y="31750"/>
                  <a:pt x="217714" y="31750"/>
                </a:cubicBezTo>
                <a:lnTo>
                  <a:pt x="199571" y="31750"/>
                </a:lnTo>
                <a:lnTo>
                  <a:pt x="199571" y="15875"/>
                </a:lnTo>
                <a:cubicBezTo>
                  <a:pt x="199571" y="7094"/>
                  <a:pt x="191464" y="0"/>
                  <a:pt x="181429" y="0"/>
                </a:cubicBezTo>
                <a:cubicBezTo>
                  <a:pt x="171393" y="0"/>
                  <a:pt x="163286" y="7094"/>
                  <a:pt x="163286" y="15875"/>
                </a:cubicBezTo>
                <a:lnTo>
                  <a:pt x="163286" y="31750"/>
                </a:lnTo>
                <a:lnTo>
                  <a:pt x="90714" y="31750"/>
                </a:lnTo>
                <a:lnTo>
                  <a:pt x="90714" y="15875"/>
                </a:lnTo>
                <a:cubicBezTo>
                  <a:pt x="90714" y="7094"/>
                  <a:pt x="82607" y="0"/>
                  <a:pt x="72571" y="0"/>
                </a:cubicBezTo>
                <a:close/>
                <a:moveTo>
                  <a:pt x="0" y="111125"/>
                </a:moveTo>
                <a:lnTo>
                  <a:pt x="0" y="206375"/>
                </a:lnTo>
                <a:cubicBezTo>
                  <a:pt x="0" y="223887"/>
                  <a:pt x="16272" y="238125"/>
                  <a:pt x="36286" y="238125"/>
                </a:cubicBezTo>
                <a:lnTo>
                  <a:pt x="217714" y="238125"/>
                </a:lnTo>
                <a:cubicBezTo>
                  <a:pt x="237728" y="238125"/>
                  <a:pt x="254000" y="223887"/>
                  <a:pt x="254000" y="206375"/>
                </a:cubicBezTo>
                <a:lnTo>
                  <a:pt x="254000" y="111125"/>
                </a:lnTo>
                <a:lnTo>
                  <a:pt x="0" y="111125"/>
                </a:ln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34" name="Text 31"/>
          <p:cNvSpPr/>
          <p:nvPr/>
        </p:nvSpPr>
        <p:spPr>
          <a:xfrm>
            <a:off x="7124970" y="6475842"/>
            <a:ext cx="453957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13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2026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12636915" y="4126255"/>
            <a:ext cx="1660131" cy="2692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